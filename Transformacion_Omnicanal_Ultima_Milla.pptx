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 type="screen16x9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presProps" Target="presProps.xml"/><Relationship Id="rId11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2800">
          <a:solidFill>
            <a:schemeClr val="tx1"/>
          </a:solidFill>
          <a:latin typeface="+mj-lt"/>
        </a:defRPr>
      </a:lvl1pPr>
    </p:titleStyle>
    <p:bodyStyle>
      <a:lvl1pPr>
        <a:defRPr sz="1800">
          <a:solidFill>
            <a:schemeClr val="tx1"/>
          </a:solidFill>
          <a:latin typeface="+mn-lt"/>
        </a:defRPr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454545"/>
              </a:gs>
              <a:gs pos="100000">
                <a:srgbClr val="2B2B2B"/>
              </a:gs>
            </a:gsLst>
            <a:lin ang="5400000" scaled="0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band"/>
          <p:cNvSpPr/>
          <p:nvPr/>
        </p:nvSpPr>
        <p:spPr>
          <a:xfrm>
            <a:off x="7955279" y="0"/>
            <a:ext cx="4297680" cy="685800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ine"/>
          <p:cNvSpPr/>
          <p:nvPr/>
        </p:nvSpPr>
        <p:spPr>
          <a:xfrm>
            <a:off x="7680960" y="0"/>
            <a:ext cx="146304" cy="685800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" name="logoring"/>
          <p:cNvSpPr/>
          <p:nvPr/>
        </p:nvSpPr>
        <p:spPr>
          <a:xfrm>
            <a:off x="10698480" y="5029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" name="logo"/>
          <p:cNvSpPr/>
          <p:nvPr/>
        </p:nvSpPr>
        <p:spPr>
          <a:xfrm>
            <a:off x="10780090" y="584530"/>
            <a:ext cx="796900" cy="79690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7" name="tb"/>
          <p:cNvSpPr txBox="1"/>
          <p:nvPr/>
        </p:nvSpPr>
        <p:spPr>
          <a:xfrm>
            <a:off x="777240" y="868680"/>
            <a:ext cx="7315200" cy="457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240" dirty="0">
                <a:solidFill>
                  <a:srgbClr val="E8711E"/>
                </a:solidFill>
                <a:latin typeface="Calibri"/>
                <a:cs typeface="Calibri"/>
              </a:rPr>
              <a:t>LAMINA 1  ·  VISION GENERAL</a:t>
            </a:r>
          </a:p>
        </p:txBody>
      </p:sp>
      <p:sp>
        <p:nvSpPr>
          <p:cNvPr id="8" name="tb"/>
          <p:cNvSpPr txBox="1"/>
          <p:nvPr/>
        </p:nvSpPr>
        <p:spPr>
          <a:xfrm>
            <a:off x="731520" y="1600200"/>
            <a:ext cx="7406640" cy="23774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spcAft>
                <a:spcPts val="100"/>
              </a:spcAft>
              <a:buNone/>
            </a:pPr>
            <a:r>
              <a:rPr lang="es-ES" sz="4000" b="1" i="0" dirty="0">
                <a:solidFill>
                  <a:srgbClr val="FFFFFF"/>
                </a:solidFill>
                <a:latin typeface="Calibri"/>
                <a:cs typeface="Calibri"/>
              </a:rPr>
              <a:t>Programa de Transformacion</a:t>
            </a:r>
          </a:p>
          <a:p>
            <a:pPr marL="0" indent="0" lvl="0" algn="l">
              <a:buNone/>
            </a:pPr>
            <a:r>
              <a:rPr lang="es-ES" sz="4000" b="1" i="0" dirty="0">
                <a:solidFill>
                  <a:srgbClr val="E8711E"/>
                </a:solidFill>
                <a:latin typeface="Calibri"/>
                <a:cs typeface="Calibri"/>
              </a:rPr>
              <a:t>Omnicanal y Ultima Milla</a:t>
            </a:r>
          </a:p>
        </p:txBody>
      </p:sp>
      <p:sp>
        <p:nvSpPr>
          <p:cNvPr id="9" name="tb"/>
          <p:cNvSpPr txBox="1"/>
          <p:nvPr/>
        </p:nvSpPr>
        <p:spPr>
          <a:xfrm>
            <a:off x="777240" y="3703320"/>
            <a:ext cx="6766560" cy="5486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300" b="1" i="0" spc="200" dirty="0">
                <a:solidFill>
                  <a:srgbClr val="E8711E"/>
                </a:solidFill>
                <a:latin typeface="Calibri"/>
                <a:cs typeface="Calibri"/>
              </a:rPr>
              <a:t>OBJETIVO</a:t>
            </a:r>
          </a:p>
        </p:txBody>
      </p:sp>
      <p:sp>
        <p:nvSpPr>
          <p:cNvPr id="10" name="tb"/>
          <p:cNvSpPr txBox="1"/>
          <p:nvPr/>
        </p:nvSpPr>
        <p:spPr>
          <a:xfrm>
            <a:off x="777240" y="4069080"/>
            <a:ext cx="69037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500" b="0" i="0" dirty="0">
                <a:solidFill>
                  <a:srgbClr val="D7E2EC"/>
                </a:solidFill>
                <a:latin typeface="Calibri"/>
                <a:cs typeface="Calibri"/>
              </a:rPr>
              <a:t>Mejorar la experiencia de compra y entrega de nuestros socios mediante: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77240" y="4709160"/>
            <a:ext cx="6949440" cy="18288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Direcciones de clientes confiables.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Automatizacion de incidencias de distribucion.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spcAft>
                <a:spcPts val="320"/>
              </a:spcAft>
              <a:buClr>
                <a:srgbClr val="E8711E"/>
              </a:buClr>
              <a:buFont typeface="Arial"/>
              <a:buChar char="▶"/>
            </a:pPr>
            <a:r>
              <a:rPr lang="es-ES" sz="1350" b="0" i="0" dirty="0">
                <a:solidFill>
                  <a:srgbClr val="FFFFFF"/>
                </a:solidFill>
                <a:latin typeface="Calibri"/>
                <a:cs typeface="Calibri"/>
              </a:rPr>
              <a:t>Integracion omnicanal de tiendas y centros de distribucion.</a:t>
            </a:r>
          </a:p>
        </p:txBody>
      </p:sp>
      <p:sp>
        <p:nvSpPr>
          <p:cNvPr id="12" name="sp"/>
          <p:cNvSpPr/>
          <p:nvPr/>
        </p:nvSpPr>
        <p:spPr>
          <a:xfrm>
            <a:off x="8229600" y="18288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3" name="sp"/>
          <p:cNvSpPr/>
          <p:nvPr/>
        </p:nvSpPr>
        <p:spPr>
          <a:xfrm>
            <a:off x="8229600" y="27432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LOGISTICA</a:t>
            </a:r>
          </a:p>
        </p:txBody>
      </p:sp>
      <p:sp>
        <p:nvSpPr>
          <p:cNvPr id="14" name="sp"/>
          <p:cNvSpPr/>
          <p:nvPr/>
        </p:nvSpPr>
        <p:spPr>
          <a:xfrm>
            <a:off x="8229600" y="36576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IA EN RUTA</a:t>
            </a:r>
          </a:p>
        </p:txBody>
      </p:sp>
      <p:sp>
        <p:nvSpPr>
          <p:cNvPr id="15" name="sp"/>
          <p:cNvSpPr/>
          <p:nvPr/>
        </p:nvSpPr>
        <p:spPr>
          <a:xfrm>
            <a:off x="8229600" y="4572000"/>
            <a:ext cx="3566160" cy="713232"/>
          </a:xfrm>
          <a:prstGeom prst="roundRect">
            <a:avLst/>
          </a:prstGeom>
          <a:solidFill>
            <a:srgbClr val="0C2742"/>
          </a:solidFill>
          <a:ln w="9525">
            <a:solidFill>
              <a:srgbClr val="E8711E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400" b="1" i="0" spc="160" dirty="0">
                <a:solidFill>
                  <a:srgbClr val="FFFFFF"/>
                </a:solidFill>
                <a:latin typeface="Calibri"/>
                <a:cs typeface="Calibri"/>
              </a:rPr>
              <a:t>OMNICANAL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EL DESAFIO DE CAV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Situacion Actual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introtab"/>
          <p:cNvSpPr/>
          <p:nvPr/>
        </p:nvSpPr>
        <p:spPr>
          <a:xfrm>
            <a:off x="566928" y="1417320"/>
            <a:ext cx="91440" cy="91440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tb"/>
          <p:cNvSpPr txBox="1"/>
          <p:nvPr/>
        </p:nvSpPr>
        <p:spPr>
          <a:xfrm>
            <a:off x="777240" y="1371600"/>
            <a:ext cx="10881360" cy="10058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112000"/>
              </a:lnSpc>
              <a:buNone/>
            </a:pPr>
            <a:r>
              <a:rPr lang="es-ES" sz="1400" b="0" i="0" dirty="0">
                <a:solidFill>
                  <a:srgbClr val="333333"/>
                </a:solidFill>
                <a:latin typeface="Calibri"/>
                <a:cs typeface="Calibri"/>
              </a:rPr>
              <a:t>El Club de Amantes del Vino (CAV) enfrenta desafios criticos en su operacion logistica y comercial: direcciones de clientes inexactas que derivan en entregas fallidas, tiempos de despacho elevados en la Region Metropolitana y canales de venta que operan de forma aislada. Este programa aborda estos retos de manera integral, bajo una unica estrategia omnicanal.</a:t>
            </a:r>
          </a:p>
        </p:txBody>
      </p:sp>
      <p:sp>
        <p:nvSpPr>
          <p:cNvPr id="11" name="card"/>
          <p:cNvSpPr/>
          <p:nvPr/>
        </p:nvSpPr>
        <p:spPr>
          <a:xfrm>
            <a:off x="566928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op"/>
          <p:cNvSpPr/>
          <p:nvPr/>
        </p:nvSpPr>
        <p:spPr>
          <a:xfrm>
            <a:off x="566928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3" name="bot"/>
          <p:cNvSpPr/>
          <p:nvPr/>
        </p:nvSpPr>
        <p:spPr>
          <a:xfrm flipV="1">
            <a:off x="566928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4" name="halo"/>
          <p:cNvSpPr/>
          <p:nvPr/>
        </p:nvSpPr>
        <p:spPr>
          <a:xfrm>
            <a:off x="1149858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" name="badge"/>
          <p:cNvSpPr/>
          <p:nvPr/>
        </p:nvSpPr>
        <p:spPr>
          <a:xfrm>
            <a:off x="1287018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db"/>
          <p:cNvSpPr/>
          <p:nvPr/>
        </p:nvSpPr>
        <p:spPr>
          <a:xfrm>
            <a:off x="1671066" y="3108960"/>
            <a:ext cx="420624" cy="548640"/>
          </a:xfrm>
          <a:prstGeom prst="can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7" name="tb"/>
          <p:cNvSpPr txBox="1"/>
          <p:nvPr/>
        </p:nvSpPr>
        <p:spPr>
          <a:xfrm>
            <a:off x="658368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Datos</a:t>
            </a:r>
          </a:p>
        </p:txBody>
      </p:sp>
      <p:sp>
        <p:nvSpPr>
          <p:cNvPr id="18" name="uline"/>
          <p:cNvSpPr/>
          <p:nvPr/>
        </p:nvSpPr>
        <p:spPr>
          <a:xfrm>
            <a:off x="1588770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9" name="tb"/>
          <p:cNvSpPr txBox="1"/>
          <p:nvPr/>
        </p:nvSpPr>
        <p:spPr>
          <a:xfrm>
            <a:off x="786384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Mas de 35.000 clientes con direcciones de calidad dispar.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Multiples canales de captura sin estandar unico.</a:t>
            </a:r>
          </a:p>
        </p:txBody>
      </p:sp>
      <p:sp>
        <p:nvSpPr>
          <p:cNvPr id="20" name="card"/>
          <p:cNvSpPr/>
          <p:nvPr/>
        </p:nvSpPr>
        <p:spPr>
          <a:xfrm>
            <a:off x="3383280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1" name="top"/>
          <p:cNvSpPr/>
          <p:nvPr/>
        </p:nvSpPr>
        <p:spPr>
          <a:xfrm>
            <a:off x="3383280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2" name="bot"/>
          <p:cNvSpPr/>
          <p:nvPr/>
        </p:nvSpPr>
        <p:spPr>
          <a:xfrm flipV="1">
            <a:off x="3383280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halo"/>
          <p:cNvSpPr/>
          <p:nvPr/>
        </p:nvSpPr>
        <p:spPr>
          <a:xfrm>
            <a:off x="3966210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4" name="badge"/>
          <p:cNvSpPr/>
          <p:nvPr/>
        </p:nvSpPr>
        <p:spPr>
          <a:xfrm>
            <a:off x="4103370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cargo"/>
          <p:cNvSpPr/>
          <p:nvPr/>
        </p:nvSpPr>
        <p:spPr>
          <a:xfrm>
            <a:off x="4295394" y="3182112"/>
            <a:ext cx="475488" cy="329184"/>
          </a:xfrm>
          <a:prstGeom prst="round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6" name="cab"/>
          <p:cNvSpPr/>
          <p:nvPr/>
        </p:nvSpPr>
        <p:spPr>
          <a:xfrm>
            <a:off x="4789170" y="3346704"/>
            <a:ext cx="274320" cy="182880"/>
          </a:xfrm>
          <a:prstGeom prst="round1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7" name="wheel"/>
          <p:cNvSpPr/>
          <p:nvPr/>
        </p:nvSpPr>
        <p:spPr>
          <a:xfrm>
            <a:off x="4459986" y="3529584"/>
            <a:ext cx="155448" cy="15544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8" name="wheel"/>
          <p:cNvSpPr/>
          <p:nvPr/>
        </p:nvSpPr>
        <p:spPr>
          <a:xfrm>
            <a:off x="4862322" y="3529584"/>
            <a:ext cx="155448" cy="155448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9" name="tb"/>
          <p:cNvSpPr txBox="1"/>
          <p:nvPr/>
        </p:nvSpPr>
        <p:spPr>
          <a:xfrm>
            <a:off x="3474720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Distribucion</a:t>
            </a:r>
          </a:p>
        </p:txBody>
      </p:sp>
      <p:sp>
        <p:nvSpPr>
          <p:cNvPr id="30" name="uline"/>
          <p:cNvSpPr/>
          <p:nvPr/>
        </p:nvSpPr>
        <p:spPr>
          <a:xfrm>
            <a:off x="4405122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"/>
          <p:cNvSpPr txBox="1"/>
          <p:nvPr/>
        </p:nvSpPr>
        <p:spPr>
          <a:xfrm>
            <a:off x="3602736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Entregas fallidas por errores de direccion.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Reprocesos y carga retornada al CD.</a:t>
            </a:r>
          </a:p>
        </p:txBody>
      </p:sp>
      <p:sp>
        <p:nvSpPr>
          <p:cNvPr id="32" name="card"/>
          <p:cNvSpPr/>
          <p:nvPr/>
        </p:nvSpPr>
        <p:spPr>
          <a:xfrm>
            <a:off x="6199632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3" name="top"/>
          <p:cNvSpPr/>
          <p:nvPr/>
        </p:nvSpPr>
        <p:spPr>
          <a:xfrm>
            <a:off x="6199632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bot"/>
          <p:cNvSpPr/>
          <p:nvPr/>
        </p:nvSpPr>
        <p:spPr>
          <a:xfrm flipV="1">
            <a:off x="6199632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5" name="halo"/>
          <p:cNvSpPr/>
          <p:nvPr/>
        </p:nvSpPr>
        <p:spPr>
          <a:xfrm>
            <a:off x="6782562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6" name="badge"/>
          <p:cNvSpPr/>
          <p:nvPr/>
        </p:nvSpPr>
        <p:spPr>
          <a:xfrm>
            <a:off x="6919722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head"/>
          <p:cNvSpPr/>
          <p:nvPr/>
        </p:nvSpPr>
        <p:spPr>
          <a:xfrm>
            <a:off x="7367778" y="3054096"/>
            <a:ext cx="274320" cy="274320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8" name="body"/>
          <p:cNvSpPr/>
          <p:nvPr/>
        </p:nvSpPr>
        <p:spPr>
          <a:xfrm>
            <a:off x="7239762" y="3383280"/>
            <a:ext cx="530352" cy="310896"/>
          </a:xfrm>
          <a:prstGeom prst="trapezoid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39" name="heart"/>
          <p:cNvSpPr/>
          <p:nvPr/>
        </p:nvSpPr>
        <p:spPr>
          <a:xfrm>
            <a:off x="7623810" y="2999232"/>
            <a:ext cx="219456" cy="201168"/>
          </a:xfrm>
          <a:prstGeom prst="hear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0" name="tb"/>
          <p:cNvSpPr txBox="1"/>
          <p:nvPr/>
        </p:nvSpPr>
        <p:spPr>
          <a:xfrm>
            <a:off x="6291072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Experiencia Cliente</a:t>
            </a:r>
          </a:p>
        </p:txBody>
      </p:sp>
      <p:sp>
        <p:nvSpPr>
          <p:cNvPr id="41" name="uline"/>
          <p:cNvSpPr/>
          <p:nvPr/>
        </p:nvSpPr>
        <p:spPr>
          <a:xfrm>
            <a:off x="7221474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2" name="tb"/>
          <p:cNvSpPr txBox="1"/>
          <p:nvPr/>
        </p:nvSpPr>
        <p:spPr>
          <a:xfrm>
            <a:off x="6419088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Retrasos en las entregas.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Falta de entregas same day en la RM.</a:t>
            </a:r>
          </a:p>
        </p:txBody>
      </p:sp>
      <p:sp>
        <p:nvSpPr>
          <p:cNvPr id="43" name="card"/>
          <p:cNvSpPr/>
          <p:nvPr/>
        </p:nvSpPr>
        <p:spPr>
          <a:xfrm>
            <a:off x="9015984" y="2468880"/>
            <a:ext cx="2628900" cy="3703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4" name="top"/>
          <p:cNvSpPr/>
          <p:nvPr/>
        </p:nvSpPr>
        <p:spPr>
          <a:xfrm>
            <a:off x="9015984" y="2468880"/>
            <a:ext cx="2628900" cy="146304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5" name="bot"/>
          <p:cNvSpPr/>
          <p:nvPr/>
        </p:nvSpPr>
        <p:spPr>
          <a:xfrm flipV="1">
            <a:off x="9015984" y="6025896"/>
            <a:ext cx="2628900" cy="146304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6" name="halo"/>
          <p:cNvSpPr/>
          <p:nvPr/>
        </p:nvSpPr>
        <p:spPr>
          <a:xfrm>
            <a:off x="9598914" y="2651760"/>
            <a:ext cx="1463040" cy="1463040"/>
          </a:xfrm>
          <a:prstGeom prst="ellipse">
            <a:avLst/>
          </a:prstGeom>
          <a:solidFill>
            <a:srgbClr val="FBE2CB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7" name="badge"/>
          <p:cNvSpPr/>
          <p:nvPr/>
        </p:nvSpPr>
        <p:spPr>
          <a:xfrm>
            <a:off x="9736074" y="2788920"/>
            <a:ext cx="1188720" cy="1188720"/>
          </a:xfrm>
          <a:prstGeom prst="ellipse">
            <a:avLst/>
          </a:prstGeom>
          <a:solidFill>
            <a:srgbClr val="E8711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8" name="awning"/>
          <p:cNvSpPr/>
          <p:nvPr/>
        </p:nvSpPr>
        <p:spPr>
          <a:xfrm flipV="1">
            <a:off x="10001250" y="3072384"/>
            <a:ext cx="658368" cy="164592"/>
          </a:xfrm>
          <a:prstGeom prst="trapezoid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49" name="store"/>
          <p:cNvSpPr/>
          <p:nvPr/>
        </p:nvSpPr>
        <p:spPr>
          <a:xfrm>
            <a:off x="10074402" y="3236976"/>
            <a:ext cx="512064" cy="457200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0" name="door"/>
          <p:cNvSpPr/>
          <p:nvPr/>
        </p:nvSpPr>
        <p:spPr>
          <a:xfrm>
            <a:off x="10248138" y="3429000"/>
            <a:ext cx="164592" cy="265176"/>
          </a:xfrm>
          <a:prstGeom prst="rect">
            <a:avLst/>
          </a:prstGeom>
          <a:noFill/>
          <a:ln w="19050">
            <a:solidFill>
              <a:srgbClr val="FFFFFF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51" name="tb"/>
          <p:cNvSpPr txBox="1"/>
          <p:nvPr/>
        </p:nvSpPr>
        <p:spPr>
          <a:xfrm>
            <a:off x="9107424" y="4096512"/>
            <a:ext cx="2446020" cy="640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500" b="1" i="0" dirty="0">
                <a:solidFill>
                  <a:srgbClr val="123A5E"/>
                </a:solidFill>
                <a:latin typeface="Calibri"/>
                <a:cs typeface="Calibri"/>
              </a:rPr>
              <a:t>Retail</a:t>
            </a:r>
          </a:p>
        </p:txBody>
      </p:sp>
      <p:sp>
        <p:nvSpPr>
          <p:cNvPr id="52" name="uline"/>
          <p:cNvSpPr/>
          <p:nvPr/>
        </p:nvSpPr>
        <p:spPr>
          <a:xfrm>
            <a:off x="10037826" y="4681728"/>
            <a:ext cx="585216" cy="5486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3" name="tb"/>
          <p:cNvSpPr txBox="1"/>
          <p:nvPr/>
        </p:nvSpPr>
        <p:spPr>
          <a:xfrm>
            <a:off x="9235440" y="4864608"/>
            <a:ext cx="2226564" cy="10515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Venta limitada al stock de cada tienda.</a:t>
            </a:r>
          </a:p>
          <a:p>
            <a:pPr marL="228600" indent="-228600" lvl="0" algn="l">
              <a:lnSpc>
                <a:spcPct val="104000"/>
              </a:lnSpc>
              <a:spcAft>
                <a:spcPts val="260"/>
              </a:spcAft>
              <a:buClr>
                <a:srgbClr val="E8711E"/>
              </a:buClr>
              <a:buFont typeface="Arial"/>
              <a:buChar char="▸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Sin visibilidad del inventario de la red.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CUATRO PILARES DE TRABAJO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Los 4 Frentes del Programa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pillar"/>
          <p:cNvSpPr/>
          <p:nvPr/>
        </p:nvSpPr>
        <p:spPr>
          <a:xfrm>
            <a:off x="566928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phead"/>
          <p:cNvSpPr/>
          <p:nvPr/>
        </p:nvSpPr>
        <p:spPr>
          <a:xfrm>
            <a:off x="566928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566928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01</a:t>
            </a:r>
          </a:p>
        </p:txBody>
      </p:sp>
      <p:sp>
        <p:nvSpPr>
          <p:cNvPr id="12" name="tb"/>
          <p:cNvSpPr txBox="1"/>
          <p:nvPr/>
        </p:nvSpPr>
        <p:spPr>
          <a:xfrm>
            <a:off x="676656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Normalizacion Historica de Direcciones</a:t>
            </a:r>
          </a:p>
        </p:txBody>
      </p:sp>
      <p:sp>
        <p:nvSpPr>
          <p:cNvPr id="13" name="tb"/>
          <p:cNvSpPr txBox="1"/>
          <p:nvPr/>
        </p:nvSpPr>
        <p:spPr>
          <a:xfrm>
            <a:off x="713232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Corregir la base actual de clientes.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Meta: normalizar 35.000 registros.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Duracion: 1 mes.</a:t>
            </a:r>
          </a:p>
        </p:txBody>
      </p:sp>
      <p:sp>
        <p:nvSpPr>
          <p:cNvPr id="14" name="pillar"/>
          <p:cNvSpPr/>
          <p:nvPr/>
        </p:nvSpPr>
        <p:spPr>
          <a:xfrm>
            <a:off x="3364992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phead"/>
          <p:cNvSpPr/>
          <p:nvPr/>
        </p:nvSpPr>
        <p:spPr>
          <a:xfrm>
            <a:off x="3364992" y="1783080"/>
            <a:ext cx="2679192" cy="1051560"/>
          </a:xfrm>
          <a:prstGeom prst="round2Same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3364992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02</a:t>
            </a:r>
          </a:p>
        </p:txBody>
      </p:sp>
      <p:sp>
        <p:nvSpPr>
          <p:cNvPr id="17" name="tb"/>
          <p:cNvSpPr txBox="1"/>
          <p:nvPr/>
        </p:nvSpPr>
        <p:spPr>
          <a:xfrm>
            <a:off x="3474720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Captura Correcta desde el Origen</a:t>
            </a:r>
          </a:p>
        </p:txBody>
      </p:sp>
      <p:sp>
        <p:nvSpPr>
          <p:cNvPr id="18" name="tb"/>
          <p:cNvSpPr txBox="1"/>
          <p:nvPr/>
        </p:nvSpPr>
        <p:spPr>
          <a:xfrm>
            <a:off x="3511296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Formularios estandarizados en Web, App, Carrito, ERP, QR ejecutivos, Eventos y Tiendas.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C5A8C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Resultado: evitar que el problema vuelva a generarse.</a:t>
            </a:r>
          </a:p>
        </p:txBody>
      </p:sp>
      <p:sp>
        <p:nvSpPr>
          <p:cNvPr id="19" name="pillar"/>
          <p:cNvSpPr/>
          <p:nvPr/>
        </p:nvSpPr>
        <p:spPr>
          <a:xfrm>
            <a:off x="6163056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phead"/>
          <p:cNvSpPr/>
          <p:nvPr/>
        </p:nvSpPr>
        <p:spPr>
          <a:xfrm>
            <a:off x="6163056" y="1783080"/>
            <a:ext cx="2679192" cy="105156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6163056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03</a:t>
            </a:r>
          </a:p>
        </p:txBody>
      </p:sp>
      <p:sp>
        <p:nvSpPr>
          <p:cNvPr id="22" name="tb"/>
          <p:cNvSpPr txBox="1"/>
          <p:nvPr/>
        </p:nvSpPr>
        <p:spPr>
          <a:xfrm>
            <a:off x="6272784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IA para Gestion de Incidencias en Ruta</a:t>
            </a:r>
          </a:p>
        </p:txBody>
      </p:sp>
      <p:sp>
        <p:nvSpPr>
          <p:cNvPr id="23" name="tb"/>
          <p:cNvSpPr txBox="1"/>
          <p:nvPr/>
        </p:nvSpPr>
        <p:spPr>
          <a:xfrm>
            <a:off x="6309360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Agente IA SimpliRoute: contacto automatico, correccion de direcciones, reagendamiento y actualizacion en tiempo real.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Objetivo: reducir entregas fallidas y retornos al CD; mejorar experiencia.</a:t>
            </a:r>
          </a:p>
        </p:txBody>
      </p:sp>
      <p:sp>
        <p:nvSpPr>
          <p:cNvPr id="24" name="pillar"/>
          <p:cNvSpPr/>
          <p:nvPr/>
        </p:nvSpPr>
        <p:spPr>
          <a:xfrm>
            <a:off x="8961120" y="1783080"/>
            <a:ext cx="2679192" cy="4251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5" name="phead"/>
          <p:cNvSpPr/>
          <p:nvPr/>
        </p:nvSpPr>
        <p:spPr>
          <a:xfrm>
            <a:off x="8961120" y="1783080"/>
            <a:ext cx="2679192" cy="105156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6" name="tb"/>
          <p:cNvSpPr txBox="1"/>
          <p:nvPr/>
        </p:nvSpPr>
        <p:spPr>
          <a:xfrm>
            <a:off x="8961120" y="1892808"/>
            <a:ext cx="2679192" cy="5029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150" b="1" i="0" spc="180" dirty="0">
                <a:solidFill>
                  <a:srgbClr val="FFFFFF"/>
                </a:solidFill>
                <a:latin typeface="Calibri"/>
                <a:cs typeface="Calibri"/>
              </a:rPr>
              <a:t>PILAR 04</a:t>
            </a:r>
          </a:p>
        </p:txBody>
      </p:sp>
      <p:sp>
        <p:nvSpPr>
          <p:cNvPr id="27" name="tb"/>
          <p:cNvSpPr txBox="1"/>
          <p:nvPr/>
        </p:nvSpPr>
        <p:spPr>
          <a:xfrm>
            <a:off x="9070848" y="2240280"/>
            <a:ext cx="2459736" cy="5943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6000"/>
              </a:lnSpc>
              <a:buNone/>
            </a:pPr>
            <a:r>
              <a:rPr lang="es-ES" sz="1180" b="1" i="0" dirty="0">
                <a:solidFill>
                  <a:srgbClr val="FFFFFF"/>
                </a:solidFill>
                <a:latin typeface="Calibri"/>
                <a:cs typeface="Calibri"/>
              </a:rPr>
              <a:t>Omnicanalidad Retail</a:t>
            </a:r>
          </a:p>
        </p:txBody>
      </p:sp>
      <p:sp>
        <p:nvSpPr>
          <p:cNvPr id="28" name="tb"/>
          <p:cNvSpPr txBox="1"/>
          <p:nvPr/>
        </p:nvSpPr>
        <p:spPr>
          <a:xfrm>
            <a:off x="9107424" y="2971800"/>
            <a:ext cx="2386584" cy="29260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Tiendas venden inventario de toda la red.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Modelo: Cliente &gt; Tienda &gt; Cualquier Bodega &gt; Despacho.</a:t>
            </a:r>
          </a:p>
          <a:p>
            <a:pPr marL="228600" indent="-228600" lvl="0" algn="l">
              <a:lnSpc>
                <a:spcPct val="100000"/>
              </a:lnSpc>
              <a:spcAft>
                <a:spcPts val="28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180" b="0" i="0" dirty="0">
                <a:solidFill>
                  <a:srgbClr val="333333"/>
                </a:solidFill>
                <a:latin typeface="Calibri"/>
                <a:cs typeface="Calibri"/>
              </a:rPr>
              <a:t>Beneficios: mayor disponibilidad, menos ventas perdidas.</a:t>
            </a:r>
          </a:p>
        </p:txBody>
      </p:sp>
      <p:sp>
        <p:nvSpPr>
          <p:cNvPr id="2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AGENTE IA DE GESTION DE ENTREGAS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Caso de Negocio  ·  IA SimpliRoute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841248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INVERSION</a:t>
            </a:r>
          </a:p>
        </p:txBody>
      </p:sp>
      <p:sp>
        <p:nvSpPr>
          <p:cNvPr id="12" name="tb"/>
          <p:cNvSpPr txBox="1"/>
          <p:nvPr/>
        </p:nvSpPr>
        <p:spPr>
          <a:xfrm>
            <a:off x="822960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1.500</a:t>
            </a:r>
          </a:p>
        </p:txBody>
      </p:sp>
      <p:sp>
        <p:nvSpPr>
          <p:cNvPr id="13" name="tb"/>
          <p:cNvSpPr txBox="1"/>
          <p:nvPr/>
        </p:nvSpPr>
        <p:spPr>
          <a:xfrm>
            <a:off x="859536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</a:t>
            </a:r>
          </a:p>
        </p:txBody>
      </p:sp>
      <p:sp>
        <p:nvSpPr>
          <p:cNvPr id="14" name="sp"/>
          <p:cNvSpPr/>
          <p:nvPr/>
        </p:nvSpPr>
        <p:spPr>
          <a:xfrm>
            <a:off x="4251960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4251960" y="1737360"/>
            <a:ext cx="109728" cy="16916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6" name="tb"/>
          <p:cNvSpPr txBox="1"/>
          <p:nvPr/>
        </p:nvSpPr>
        <p:spPr>
          <a:xfrm>
            <a:off x="4526280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ESTIMADO</a:t>
            </a:r>
          </a:p>
        </p:txBody>
      </p:sp>
      <p:sp>
        <p:nvSpPr>
          <p:cNvPr id="17" name="tb"/>
          <p:cNvSpPr txBox="1"/>
          <p:nvPr/>
        </p:nvSpPr>
        <p:spPr>
          <a:xfrm>
            <a:off x="4507992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123A5E"/>
                </a:solidFill>
                <a:latin typeface="Calibri"/>
                <a:cs typeface="Calibri"/>
              </a:rPr>
              <a:t>USD 3.500</a:t>
            </a:r>
          </a:p>
        </p:txBody>
      </p:sp>
      <p:sp>
        <p:nvSpPr>
          <p:cNvPr id="18" name="tb"/>
          <p:cNvSpPr txBox="1"/>
          <p:nvPr/>
        </p:nvSpPr>
        <p:spPr>
          <a:xfrm>
            <a:off x="4544568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en ahorro</a:t>
            </a:r>
          </a:p>
        </p:txBody>
      </p:sp>
      <p:sp>
        <p:nvSpPr>
          <p:cNvPr id="19" name="sp"/>
          <p:cNvSpPr/>
          <p:nvPr/>
        </p:nvSpPr>
        <p:spPr>
          <a:xfrm>
            <a:off x="7936992" y="1737360"/>
            <a:ext cx="3502152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0" name="sp"/>
          <p:cNvSpPr/>
          <p:nvPr/>
        </p:nvSpPr>
        <p:spPr>
          <a:xfrm>
            <a:off x="7936992" y="1737360"/>
            <a:ext cx="109728" cy="16916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1" name="tb"/>
          <p:cNvSpPr txBox="1"/>
          <p:nvPr/>
        </p:nvSpPr>
        <p:spPr>
          <a:xfrm>
            <a:off x="8211312" y="1901952"/>
            <a:ext cx="304495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00" b="1" i="0" spc="12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22" name="tb"/>
          <p:cNvSpPr txBox="1"/>
          <p:nvPr/>
        </p:nvSpPr>
        <p:spPr>
          <a:xfrm>
            <a:off x="8193024" y="2267712"/>
            <a:ext cx="3044952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3200" b="1" i="0" dirty="0">
                <a:solidFill>
                  <a:srgbClr val="E8711E"/>
                </a:solidFill>
                <a:latin typeface="Calibri"/>
                <a:cs typeface="Calibri"/>
              </a:rPr>
              <a:t>USD 2.000</a:t>
            </a:r>
          </a:p>
        </p:txBody>
      </p:sp>
      <p:sp>
        <p:nvSpPr>
          <p:cNvPr id="23" name="tb"/>
          <p:cNvSpPr txBox="1"/>
          <p:nvPr/>
        </p:nvSpPr>
        <p:spPr>
          <a:xfrm>
            <a:off x="8229600" y="2944368"/>
            <a:ext cx="3044952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/ mes  ·  ROI ~133%</a:t>
            </a:r>
          </a:p>
        </p:txBody>
      </p:sp>
      <p:sp>
        <p:nvSpPr>
          <p:cNvPr id="24" name="sp"/>
          <p:cNvSpPr/>
          <p:nvPr/>
        </p:nvSpPr>
        <p:spPr>
          <a:xfrm>
            <a:off x="566928" y="3703320"/>
            <a:ext cx="5486400" cy="2240280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DCDCDC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5" name="tb"/>
          <p:cNvSpPr txBox="1"/>
          <p:nvPr/>
        </p:nvSpPr>
        <p:spPr>
          <a:xfrm>
            <a:off x="795528" y="3813048"/>
            <a:ext cx="5029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50" b="1" i="0" dirty="0">
                <a:solidFill>
                  <a:srgbClr val="123A5E"/>
                </a:solidFill>
                <a:latin typeface="Calibri"/>
                <a:cs typeface="Calibri"/>
              </a:rPr>
              <a:t>Comparativo mensual (USD)</a:t>
            </a:r>
          </a:p>
        </p:txBody>
      </p:sp>
      <p:sp>
        <p:nvSpPr>
          <p:cNvPr id="26" name="sp"/>
          <p:cNvSpPr/>
          <p:nvPr/>
        </p:nvSpPr>
        <p:spPr>
          <a:xfrm>
            <a:off x="886968" y="5440680"/>
            <a:ext cx="4846320" cy="16459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1069848" y="4911635"/>
            <a:ext cx="1051560" cy="529045"/>
          </a:xfrm>
          <a:prstGeom prst="roundRect">
            <a:avLst/>
          </a:prstGeom>
          <a:solidFill>
            <a:srgbClr val="7A7A7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978408" y="4527587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1.500</a:t>
            </a:r>
          </a:p>
        </p:txBody>
      </p:sp>
      <p:sp>
        <p:nvSpPr>
          <p:cNvPr id="29" name="tb"/>
          <p:cNvSpPr txBox="1"/>
          <p:nvPr/>
        </p:nvSpPr>
        <p:spPr>
          <a:xfrm>
            <a:off x="932688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Costo</a:t>
            </a:r>
          </a:p>
        </p:txBody>
      </p:sp>
      <p:sp>
        <p:nvSpPr>
          <p:cNvPr id="30" name="sp"/>
          <p:cNvSpPr/>
          <p:nvPr/>
        </p:nvSpPr>
        <p:spPr>
          <a:xfrm>
            <a:off x="2688336" y="4206240"/>
            <a:ext cx="1051560" cy="1234440"/>
          </a:xfrm>
          <a:prstGeom prst="round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1" name="tb"/>
          <p:cNvSpPr txBox="1"/>
          <p:nvPr/>
        </p:nvSpPr>
        <p:spPr>
          <a:xfrm>
            <a:off x="2596896" y="3822192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3.500</a:t>
            </a:r>
          </a:p>
        </p:txBody>
      </p:sp>
      <p:sp>
        <p:nvSpPr>
          <p:cNvPr id="32" name="tb"/>
          <p:cNvSpPr txBox="1"/>
          <p:nvPr/>
        </p:nvSpPr>
        <p:spPr>
          <a:xfrm>
            <a:off x="2551176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Ahorro</a:t>
            </a:r>
          </a:p>
        </p:txBody>
      </p:sp>
      <p:sp>
        <p:nvSpPr>
          <p:cNvPr id="33" name="sp"/>
          <p:cNvSpPr/>
          <p:nvPr/>
        </p:nvSpPr>
        <p:spPr>
          <a:xfrm>
            <a:off x="4306824" y="4735286"/>
            <a:ext cx="1051560" cy="705394"/>
          </a:xfrm>
          <a:prstGeom prst="round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4" name="tb"/>
          <p:cNvSpPr txBox="1"/>
          <p:nvPr/>
        </p:nvSpPr>
        <p:spPr>
          <a:xfrm>
            <a:off x="4215384" y="4351238"/>
            <a:ext cx="12344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200" b="1" i="0" dirty="0">
                <a:solidFill>
                  <a:srgbClr val="333333"/>
                </a:solidFill>
                <a:latin typeface="Calibri"/>
                <a:cs typeface="Calibri"/>
              </a:rPr>
              <a:t>2.000</a:t>
            </a:r>
          </a:p>
        </p:txBody>
      </p:sp>
      <p:sp>
        <p:nvSpPr>
          <p:cNvPr id="35" name="tb"/>
          <p:cNvSpPr txBox="1"/>
          <p:nvPr/>
        </p:nvSpPr>
        <p:spPr>
          <a:xfrm>
            <a:off x="4169664" y="5495544"/>
            <a:ext cx="132588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Beneficio Neto</a:t>
            </a:r>
          </a:p>
        </p:txBody>
      </p:sp>
      <p:sp>
        <p:nvSpPr>
          <p:cNvPr id="36" name="sp"/>
          <p:cNvSpPr/>
          <p:nvPr/>
        </p:nvSpPr>
        <p:spPr>
          <a:xfrm>
            <a:off x="6355080" y="3703320"/>
            <a:ext cx="5285232" cy="2240280"/>
          </a:xfrm>
          <a:prstGeom prst="roundRect">
            <a:avLst/>
          </a:prstGeom>
          <a:solidFill>
            <a:srgbClr val="123A5E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7" name="tb"/>
          <p:cNvSpPr txBox="1"/>
          <p:nvPr/>
        </p:nvSpPr>
        <p:spPr>
          <a:xfrm>
            <a:off x="6647688" y="3867912"/>
            <a:ext cx="4828032" cy="41148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00" b="1" i="0" spc="160" dirty="0">
                <a:solidFill>
                  <a:srgbClr val="E8711E"/>
                </a:solidFill>
                <a:latin typeface="Calibri"/>
                <a:cs typeface="Calibri"/>
              </a:rPr>
              <a:t>BENEFICIOS ADICIONALES</a:t>
            </a:r>
          </a:p>
        </p:txBody>
      </p:sp>
      <p:sp>
        <p:nvSpPr>
          <p:cNvPr id="38" name="tb"/>
          <p:cNvSpPr txBox="1"/>
          <p:nvPr/>
        </p:nvSpPr>
        <p:spPr>
          <a:xfrm>
            <a:off x="6629400" y="4306824"/>
            <a:ext cx="4782312" cy="1508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Menor carga operativa.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Menos devoluciones.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Mejor NPS.</a:t>
            </a:r>
          </a:p>
          <a:p>
            <a:pPr marL="228600" indent="-228600" lvl="0" algn="l">
              <a:spcAft>
                <a:spcPts val="300"/>
              </a:spcAft>
              <a:buClr>
                <a:srgbClr val="E8711E"/>
              </a:buClr>
              <a:buFont typeface="Arial"/>
              <a:buChar char="✔"/>
            </a:pPr>
            <a:r>
              <a:rPr lang="es-ES" sz="1300" b="0" i="0" dirty="0">
                <a:solidFill>
                  <a:srgbClr val="FFFFFF"/>
                </a:solidFill>
                <a:latin typeface="Calibri"/>
                <a:cs typeface="Calibri"/>
              </a:rPr>
              <a:t>Mayor satisfaccion de clientes.</a:t>
            </a:r>
          </a:p>
        </p:txBody>
      </p:sp>
      <p:sp>
        <p:nvSpPr>
          <p:cNvPr id="39" name="tb"/>
          <p:cNvSpPr txBox="1"/>
          <p:nvPr/>
        </p:nvSpPr>
        <p:spPr>
          <a:xfrm>
            <a:off x="548640" y="6400800"/>
            <a:ext cx="100584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0" dirty="0">
                <a:solidFill>
                  <a:srgbClr val="6B6B6B"/>
                </a:solidFill>
                <a:latin typeface="Calibri"/>
                <a:cs typeface="Calibri"/>
              </a:rPr>
              <a:t>CAV  |  Programa de Transformacion Omnicanal y Ultima Milla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COSTO ACTUAL DE LOS REDESPACHOS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Analisis Economico (1)  ·  Dimension del Problema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upuestos"/>
          <p:cNvSpPr/>
          <p:nvPr/>
        </p:nvSpPr>
        <p:spPr>
          <a:xfrm>
            <a:off x="566928" y="1371600"/>
            <a:ext cx="11064240" cy="713232"/>
          </a:xfrm>
          <a:prstGeom prst="roundRect">
            <a:avLst/>
          </a:prstGeom>
          <a:solidFill>
            <a:srgbClr val="26262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371600"/>
            <a:ext cx="109728" cy="713232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" name="tb"/>
          <p:cNvSpPr txBox="1"/>
          <p:nvPr/>
        </p:nvSpPr>
        <p:spPr>
          <a:xfrm>
            <a:off x="868680" y="1408176"/>
            <a:ext cx="10607040" cy="566928"/>
          </a:xfrm>
          <a:prstGeom prst="rect">
            <a:avLst/>
          </a:prstGeom>
          <a:noFill/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00" b="1" i="0" spc="120" dirty="0">
                <a:solidFill>
                  <a:srgbClr val="E8711E"/>
                </a:solidFill>
                <a:latin typeface="Calibri"/>
                <a:cs typeface="Calibri"/>
              </a:rPr>
              <a:t>SUPUESTOS   </a:t>
            </a:r>
            <a:r>
              <a:rPr lang="es-ES" sz="1000" b="0" i="0" dirty="0">
                <a:solidFill>
                  <a:srgbClr val="E6EDF3"/>
                </a:solidFill>
                <a:latin typeface="Calibri"/>
                <a:cs typeface="Calibri"/>
              </a:rPr>
              <a:t>1.051 despachos fallidos/mes (promedio 13 meses)  ·  75% atacable (788/mes)  ·  80% de los retornos genera redespacho  ·  costo del redespacho $3.467  ·  TC $950/USD  ·  Agente IA USD 1.500/mes  ·  Normalizacion 40 HHEE x $7.533</a:t>
            </a:r>
          </a:p>
        </p:txBody>
      </p:sp>
      <p:sp>
        <p:nvSpPr>
          <p:cNvPr id="12" name="tb"/>
          <p:cNvSpPr txBox="1"/>
          <p:nvPr/>
        </p:nvSpPr>
        <p:spPr>
          <a:xfrm>
            <a:off x="566928" y="2212848"/>
            <a:ext cx="6583680" cy="29260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50" b="1" i="0" dirty="0">
                <a:solidFill>
                  <a:srgbClr val="123A5E"/>
                </a:solidFill>
                <a:latin typeface="Calibri"/>
                <a:cs typeface="Calibri"/>
              </a:rPr>
              <a:t>Cuadro 1  ·  Dimension del problema (costo actual)</a:t>
            </a:r>
          </a:p>
        </p:txBody>
      </p:sp>
      <p:sp>
        <p:nvSpPr>
          <p:cNvPr id="13" name="th"/>
          <p:cNvSpPr/>
          <p:nvPr/>
        </p:nvSpPr>
        <p:spPr>
          <a:xfrm>
            <a:off x="566928" y="2542032"/>
            <a:ext cx="324612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Concepto</a:t>
            </a:r>
          </a:p>
        </p:txBody>
      </p:sp>
      <p:sp>
        <p:nvSpPr>
          <p:cNvPr id="14" name="th"/>
          <p:cNvSpPr/>
          <p:nvPr/>
        </p:nvSpPr>
        <p:spPr>
          <a:xfrm>
            <a:off x="3813048" y="2542032"/>
            <a:ext cx="160020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Mensual</a:t>
            </a:r>
          </a:p>
        </p:txBody>
      </p:sp>
      <p:sp>
        <p:nvSpPr>
          <p:cNvPr id="15" name="th"/>
          <p:cNvSpPr/>
          <p:nvPr/>
        </p:nvSpPr>
        <p:spPr>
          <a:xfrm>
            <a:off x="5413248" y="2542032"/>
            <a:ext cx="169164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Anual</a:t>
            </a:r>
          </a:p>
        </p:txBody>
      </p:sp>
      <p:sp>
        <p:nvSpPr>
          <p:cNvPr id="16" name="td"/>
          <p:cNvSpPr/>
          <p:nvPr/>
        </p:nvSpPr>
        <p:spPr>
          <a:xfrm>
            <a:off x="566928" y="2953512"/>
            <a:ext cx="3246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Despachos fallidos</a:t>
            </a:r>
          </a:p>
        </p:txBody>
      </p:sp>
      <p:sp>
        <p:nvSpPr>
          <p:cNvPr id="17" name="td"/>
          <p:cNvSpPr/>
          <p:nvPr/>
        </p:nvSpPr>
        <p:spPr>
          <a:xfrm>
            <a:off x="3813048" y="2953512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1.051</a:t>
            </a:r>
          </a:p>
        </p:txBody>
      </p:sp>
      <p:sp>
        <p:nvSpPr>
          <p:cNvPr id="18" name="td"/>
          <p:cNvSpPr/>
          <p:nvPr/>
        </p:nvSpPr>
        <p:spPr>
          <a:xfrm>
            <a:off x="5413248" y="2953512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12.612</a:t>
            </a:r>
          </a:p>
        </p:txBody>
      </p:sp>
      <p:sp>
        <p:nvSpPr>
          <p:cNvPr id="19" name="td"/>
          <p:cNvSpPr/>
          <p:nvPr/>
        </p:nvSpPr>
        <p:spPr>
          <a:xfrm>
            <a:off x="566928" y="3410712"/>
            <a:ext cx="3246120" cy="457200"/>
          </a:xfrm>
          <a:prstGeom prst="rect">
            <a:avLst/>
          </a:prstGeom>
          <a:solidFill>
            <a:srgbClr val="F4F4F4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Costo unitario del redespacho</a:t>
            </a:r>
          </a:p>
        </p:txBody>
      </p:sp>
      <p:sp>
        <p:nvSpPr>
          <p:cNvPr id="20" name="td"/>
          <p:cNvSpPr/>
          <p:nvPr/>
        </p:nvSpPr>
        <p:spPr>
          <a:xfrm>
            <a:off x="3813048" y="3410712"/>
            <a:ext cx="1600200" cy="457200"/>
          </a:xfrm>
          <a:prstGeom prst="rect">
            <a:avLst/>
          </a:prstGeom>
          <a:solidFill>
            <a:srgbClr val="F4F4F4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$3.467</a:t>
            </a:r>
          </a:p>
        </p:txBody>
      </p:sp>
      <p:sp>
        <p:nvSpPr>
          <p:cNvPr id="21" name="td"/>
          <p:cNvSpPr/>
          <p:nvPr/>
        </p:nvSpPr>
        <p:spPr>
          <a:xfrm>
            <a:off x="5413248" y="3410712"/>
            <a:ext cx="1691640" cy="457200"/>
          </a:xfrm>
          <a:prstGeom prst="rect">
            <a:avLst/>
          </a:prstGeom>
          <a:solidFill>
            <a:srgbClr val="F4F4F4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$3.467</a:t>
            </a:r>
          </a:p>
        </p:txBody>
      </p:sp>
      <p:sp>
        <p:nvSpPr>
          <p:cNvPr id="22" name="td"/>
          <p:cNvSpPr/>
          <p:nvPr/>
        </p:nvSpPr>
        <p:spPr>
          <a:xfrm>
            <a:off x="566928" y="3867912"/>
            <a:ext cx="3246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Redespachos (80% de los fallidos)</a:t>
            </a:r>
          </a:p>
        </p:txBody>
      </p:sp>
      <p:sp>
        <p:nvSpPr>
          <p:cNvPr id="23" name="td"/>
          <p:cNvSpPr/>
          <p:nvPr/>
        </p:nvSpPr>
        <p:spPr>
          <a:xfrm>
            <a:off x="3813048" y="3867912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841</a:t>
            </a:r>
          </a:p>
        </p:txBody>
      </p:sp>
      <p:sp>
        <p:nvSpPr>
          <p:cNvPr id="24" name="td"/>
          <p:cNvSpPr/>
          <p:nvPr/>
        </p:nvSpPr>
        <p:spPr>
          <a:xfrm>
            <a:off x="5413248" y="3867912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10090</a:t>
            </a:r>
          </a:p>
        </p:txBody>
      </p:sp>
      <p:sp>
        <p:nvSpPr>
          <p:cNvPr id="25" name="td"/>
          <p:cNvSpPr/>
          <p:nvPr/>
        </p:nvSpPr>
        <p:spPr>
          <a:xfrm>
            <a:off x="566928" y="4325112"/>
            <a:ext cx="3246120" cy="457200"/>
          </a:xfrm>
          <a:prstGeom prst="rect">
            <a:avLst/>
          </a:prstGeom>
          <a:solidFill>
            <a:srgbClr val="E4ECF3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Costo total de redespachos</a:t>
            </a:r>
          </a:p>
        </p:txBody>
      </p:sp>
      <p:sp>
        <p:nvSpPr>
          <p:cNvPr id="26" name="td"/>
          <p:cNvSpPr/>
          <p:nvPr/>
        </p:nvSpPr>
        <p:spPr>
          <a:xfrm>
            <a:off x="3813048" y="4325112"/>
            <a:ext cx="1600200" cy="457200"/>
          </a:xfrm>
          <a:prstGeom prst="rect">
            <a:avLst/>
          </a:prstGeom>
          <a:solidFill>
            <a:srgbClr val="E4ECF3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$2.915.054</a:t>
            </a:r>
          </a:p>
        </p:txBody>
      </p:sp>
      <p:sp>
        <p:nvSpPr>
          <p:cNvPr id="27" name="td"/>
          <p:cNvSpPr/>
          <p:nvPr/>
        </p:nvSpPr>
        <p:spPr>
          <a:xfrm>
            <a:off x="5413248" y="4325112"/>
            <a:ext cx="1691640" cy="457200"/>
          </a:xfrm>
          <a:prstGeom prst="rect">
            <a:avLst/>
          </a:prstGeom>
          <a:solidFill>
            <a:srgbClr val="E4ECF3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$34.980.643</a:t>
            </a:r>
          </a:p>
        </p:txBody>
      </p:sp>
      <p:sp>
        <p:nvSpPr>
          <p:cNvPr id="28" name="td"/>
          <p:cNvSpPr/>
          <p:nvPr/>
        </p:nvSpPr>
        <p:spPr>
          <a:xfrm>
            <a:off x="566928" y="4782312"/>
            <a:ext cx="324612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Fallidos atacables (75%)</a:t>
            </a:r>
          </a:p>
        </p:txBody>
      </p:sp>
      <p:sp>
        <p:nvSpPr>
          <p:cNvPr id="29" name="td"/>
          <p:cNvSpPr/>
          <p:nvPr/>
        </p:nvSpPr>
        <p:spPr>
          <a:xfrm>
            <a:off x="3813048" y="4782312"/>
            <a:ext cx="1600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788</a:t>
            </a:r>
          </a:p>
        </p:txBody>
      </p:sp>
      <p:sp>
        <p:nvSpPr>
          <p:cNvPr id="30" name="td"/>
          <p:cNvSpPr/>
          <p:nvPr/>
        </p:nvSpPr>
        <p:spPr>
          <a:xfrm>
            <a:off x="5413248" y="4782312"/>
            <a:ext cx="1691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9459</a:t>
            </a:r>
          </a:p>
        </p:txBody>
      </p:sp>
      <p:sp>
        <p:nvSpPr>
          <p:cNvPr id="31" name="td"/>
          <p:cNvSpPr/>
          <p:nvPr/>
        </p:nvSpPr>
        <p:spPr>
          <a:xfrm>
            <a:off x="566928" y="5239512"/>
            <a:ext cx="3246120" cy="457200"/>
          </a:xfrm>
          <a:prstGeom prst="rect">
            <a:avLst/>
          </a:prstGeom>
          <a:solidFill>
            <a:srgbClr val="F4F4F4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Redespachos atacables (75% x 80%)</a:t>
            </a:r>
          </a:p>
        </p:txBody>
      </p:sp>
      <p:sp>
        <p:nvSpPr>
          <p:cNvPr id="32" name="td"/>
          <p:cNvSpPr/>
          <p:nvPr/>
        </p:nvSpPr>
        <p:spPr>
          <a:xfrm>
            <a:off x="3813048" y="5239512"/>
            <a:ext cx="1600200" cy="457200"/>
          </a:xfrm>
          <a:prstGeom prst="rect">
            <a:avLst/>
          </a:prstGeom>
          <a:solidFill>
            <a:srgbClr val="F4F4F4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631</a:t>
            </a:r>
          </a:p>
        </p:txBody>
      </p:sp>
      <p:sp>
        <p:nvSpPr>
          <p:cNvPr id="33" name="td"/>
          <p:cNvSpPr/>
          <p:nvPr/>
        </p:nvSpPr>
        <p:spPr>
          <a:xfrm>
            <a:off x="5413248" y="5239512"/>
            <a:ext cx="1691640" cy="457200"/>
          </a:xfrm>
          <a:prstGeom prst="rect">
            <a:avLst/>
          </a:prstGeom>
          <a:solidFill>
            <a:srgbClr val="F4F4F4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7567</a:t>
            </a:r>
          </a:p>
        </p:txBody>
      </p:sp>
      <p:sp>
        <p:nvSpPr>
          <p:cNvPr id="34" name="td"/>
          <p:cNvSpPr/>
          <p:nvPr/>
        </p:nvSpPr>
        <p:spPr>
          <a:xfrm>
            <a:off x="566928" y="5696712"/>
            <a:ext cx="3246120" cy="45720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E8711E"/>
                </a:solidFill>
                <a:latin typeface="Calibri"/>
                <a:cs typeface="Calibri"/>
              </a:rPr>
              <a:t>Costo de redespachos atacables</a:t>
            </a:r>
          </a:p>
        </p:txBody>
      </p:sp>
      <p:sp>
        <p:nvSpPr>
          <p:cNvPr id="35" name="td"/>
          <p:cNvSpPr/>
          <p:nvPr/>
        </p:nvSpPr>
        <p:spPr>
          <a:xfrm>
            <a:off x="3813048" y="5696712"/>
            <a:ext cx="1600200" cy="45720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E8711E"/>
                </a:solidFill>
                <a:latin typeface="Calibri"/>
                <a:cs typeface="Calibri"/>
              </a:rPr>
              <a:t>$2.186.290</a:t>
            </a:r>
          </a:p>
        </p:txBody>
      </p:sp>
      <p:sp>
        <p:nvSpPr>
          <p:cNvPr id="36" name="td"/>
          <p:cNvSpPr/>
          <p:nvPr/>
        </p:nvSpPr>
        <p:spPr>
          <a:xfrm>
            <a:off x="5413248" y="5696712"/>
            <a:ext cx="1691640" cy="457200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E8711E"/>
                </a:solidFill>
                <a:latin typeface="Calibri"/>
                <a:cs typeface="Calibri"/>
              </a:rPr>
              <a:t>$26.235.482</a:t>
            </a:r>
          </a:p>
        </p:txBody>
      </p:sp>
      <p:sp>
        <p:nvSpPr>
          <p:cNvPr id="37" name="sp"/>
          <p:cNvSpPr/>
          <p:nvPr/>
        </p:nvSpPr>
        <p:spPr>
          <a:xfrm>
            <a:off x="7360920" y="2542032"/>
            <a:ext cx="4270248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sp"/>
          <p:cNvSpPr/>
          <p:nvPr/>
        </p:nvSpPr>
        <p:spPr>
          <a:xfrm>
            <a:off x="7360920" y="2542032"/>
            <a:ext cx="118872" cy="141732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9" name="tb"/>
          <p:cNvSpPr txBox="1"/>
          <p:nvPr/>
        </p:nvSpPr>
        <p:spPr>
          <a:xfrm>
            <a:off x="7653528" y="2706624"/>
            <a:ext cx="3813048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96000"/>
              </a:lnSpc>
              <a:buNone/>
            </a:pPr>
            <a:r>
              <a:rPr lang="es-ES" sz="1000" b="1" i="0" spc="80" dirty="0">
                <a:solidFill>
                  <a:srgbClr val="6B6B6B"/>
                </a:solidFill>
                <a:latin typeface="Calibri"/>
                <a:cs typeface="Calibri"/>
              </a:rPr>
              <a:t>COSTO TOTAL DE REDESPACHOS</a:t>
            </a:r>
          </a:p>
        </p:txBody>
      </p:sp>
      <p:sp>
        <p:nvSpPr>
          <p:cNvPr id="40" name="tb"/>
          <p:cNvSpPr txBox="1"/>
          <p:nvPr/>
        </p:nvSpPr>
        <p:spPr>
          <a:xfrm>
            <a:off x="7635240" y="3090672"/>
            <a:ext cx="3813048" cy="5486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800" b="1" i="0" dirty="0">
                <a:solidFill>
                  <a:srgbClr val="123A5E"/>
                </a:solidFill>
                <a:latin typeface="Calibri"/>
                <a:cs typeface="Calibri"/>
              </a:rPr>
              <a:t>$34.980.643</a:t>
            </a:r>
          </a:p>
        </p:txBody>
      </p:sp>
      <p:sp>
        <p:nvSpPr>
          <p:cNvPr id="41" name="tb"/>
          <p:cNvSpPr txBox="1"/>
          <p:nvPr/>
        </p:nvSpPr>
        <p:spPr>
          <a:xfrm>
            <a:off x="7671816" y="3602736"/>
            <a:ext cx="3813048" cy="3200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CLP / ano  (100% de los fallidos)</a:t>
            </a:r>
          </a:p>
        </p:txBody>
      </p:sp>
      <p:sp>
        <p:nvSpPr>
          <p:cNvPr id="42" name="sp"/>
          <p:cNvSpPr/>
          <p:nvPr/>
        </p:nvSpPr>
        <p:spPr>
          <a:xfrm>
            <a:off x="7360920" y="4096512"/>
            <a:ext cx="4270248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43" name="sp"/>
          <p:cNvSpPr/>
          <p:nvPr/>
        </p:nvSpPr>
        <p:spPr>
          <a:xfrm>
            <a:off x="7360920" y="4096512"/>
            <a:ext cx="118872" cy="14173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4" name="tb"/>
          <p:cNvSpPr txBox="1"/>
          <p:nvPr/>
        </p:nvSpPr>
        <p:spPr>
          <a:xfrm>
            <a:off x="7653528" y="4261104"/>
            <a:ext cx="3813048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96000"/>
              </a:lnSpc>
              <a:buNone/>
            </a:pPr>
            <a:r>
              <a:rPr lang="es-ES" sz="1000" b="1" i="0" spc="80" dirty="0">
                <a:solidFill>
                  <a:srgbClr val="6B6B6B"/>
                </a:solidFill>
                <a:latin typeface="Calibri"/>
                <a:cs typeface="Calibri"/>
              </a:rPr>
              <a:t>COSTO ATACABLE POR EL PROYECTO</a:t>
            </a:r>
          </a:p>
        </p:txBody>
      </p:sp>
      <p:sp>
        <p:nvSpPr>
          <p:cNvPr id="45" name="tb"/>
          <p:cNvSpPr txBox="1"/>
          <p:nvPr/>
        </p:nvSpPr>
        <p:spPr>
          <a:xfrm>
            <a:off x="7635240" y="4645152"/>
            <a:ext cx="3813048" cy="5486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800" b="1" i="0" dirty="0">
                <a:solidFill>
                  <a:srgbClr val="E8711E"/>
                </a:solidFill>
                <a:latin typeface="Calibri"/>
                <a:cs typeface="Calibri"/>
              </a:rPr>
              <a:t>$26.235.482</a:t>
            </a:r>
          </a:p>
        </p:txBody>
      </p:sp>
      <p:sp>
        <p:nvSpPr>
          <p:cNvPr id="46" name="tb"/>
          <p:cNvSpPr txBox="1"/>
          <p:nvPr/>
        </p:nvSpPr>
        <p:spPr>
          <a:xfrm>
            <a:off x="7671816" y="5157216"/>
            <a:ext cx="3813048" cy="32004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CLP / ano  (75% x 80%)</a:t>
            </a:r>
          </a:p>
        </p:txBody>
      </p:sp>
      <p:sp>
        <p:nvSpPr>
          <p:cNvPr id="47" name="tb"/>
          <p:cNvSpPr txBox="1"/>
          <p:nvPr/>
        </p:nvSpPr>
        <p:spPr>
          <a:xfrm>
            <a:off x="566928" y="6236208"/>
            <a:ext cx="1106424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900" b="0" i="1" dirty="0">
                <a:solidFill>
                  <a:srgbClr val="6B6B6B"/>
                </a:solidFill>
                <a:latin typeface="Calibri"/>
                <a:cs typeface="Calibri"/>
              </a:rPr>
              <a:t>* 3 casuisticas atacables: nadie en casa  ·  direccion erronea / no encontrada  ·  cliente ya no vive en la direccion.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RETORNO DEL AGENTE IA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Analisis Economico (2)  ·  Ahorro y Beneficio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6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tb"/>
          <p:cNvSpPr txBox="1"/>
          <p:nvPr/>
        </p:nvSpPr>
        <p:spPr>
          <a:xfrm>
            <a:off x="566928" y="1371600"/>
            <a:ext cx="11064240" cy="29260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50" b="1" i="0" dirty="0">
                <a:solidFill>
                  <a:srgbClr val="123A5E"/>
                </a:solidFill>
                <a:latin typeface="Calibri"/>
                <a:cs typeface="Calibri"/>
              </a:rPr>
              <a:t>Cuadro 2  ·  Ahorro potencial segun efectividad del Agente IA</a:t>
            </a:r>
          </a:p>
        </p:txBody>
      </p:sp>
      <p:sp>
        <p:nvSpPr>
          <p:cNvPr id="10" name="th"/>
          <p:cNvSpPr/>
          <p:nvPr/>
        </p:nvSpPr>
        <p:spPr>
          <a:xfrm>
            <a:off x="566928" y="1691640"/>
            <a:ext cx="297180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Escenario</a:t>
            </a:r>
          </a:p>
        </p:txBody>
      </p:sp>
      <p:sp>
        <p:nvSpPr>
          <p:cNvPr id="11" name="th"/>
          <p:cNvSpPr/>
          <p:nvPr/>
        </p:nvSpPr>
        <p:spPr>
          <a:xfrm>
            <a:off x="3538728" y="1691640"/>
            <a:ext cx="237744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Casos resueltos/mes</a:t>
            </a:r>
          </a:p>
        </p:txBody>
      </p:sp>
      <p:sp>
        <p:nvSpPr>
          <p:cNvPr id="12" name="th"/>
          <p:cNvSpPr/>
          <p:nvPr/>
        </p:nvSpPr>
        <p:spPr>
          <a:xfrm>
            <a:off x="5916168" y="1691640"/>
            <a:ext cx="278892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Ahorro mensual</a:t>
            </a:r>
          </a:p>
        </p:txBody>
      </p:sp>
      <p:sp>
        <p:nvSpPr>
          <p:cNvPr id="13" name="th"/>
          <p:cNvSpPr/>
          <p:nvPr/>
        </p:nvSpPr>
        <p:spPr>
          <a:xfrm>
            <a:off x="8705088" y="1691640"/>
            <a:ext cx="278892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Ahorro anual</a:t>
            </a:r>
          </a:p>
        </p:txBody>
      </p:sp>
      <p:sp>
        <p:nvSpPr>
          <p:cNvPr id="14" name="td"/>
          <p:cNvSpPr/>
          <p:nvPr/>
        </p:nvSpPr>
        <p:spPr>
          <a:xfrm>
            <a:off x="566928" y="2103120"/>
            <a:ext cx="2971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Conservador (50%)</a:t>
            </a:r>
          </a:p>
        </p:txBody>
      </p:sp>
      <p:sp>
        <p:nvSpPr>
          <p:cNvPr id="15" name="td"/>
          <p:cNvSpPr/>
          <p:nvPr/>
        </p:nvSpPr>
        <p:spPr>
          <a:xfrm>
            <a:off x="3538728" y="2103120"/>
            <a:ext cx="2377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394</a:t>
            </a:r>
          </a:p>
        </p:txBody>
      </p:sp>
      <p:sp>
        <p:nvSpPr>
          <p:cNvPr id="16" name="td"/>
          <p:cNvSpPr/>
          <p:nvPr/>
        </p:nvSpPr>
        <p:spPr>
          <a:xfrm>
            <a:off x="5916168" y="2103120"/>
            <a:ext cx="2788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$1.093.145</a:t>
            </a:r>
          </a:p>
        </p:txBody>
      </p:sp>
      <p:sp>
        <p:nvSpPr>
          <p:cNvPr id="17" name="td"/>
          <p:cNvSpPr/>
          <p:nvPr/>
        </p:nvSpPr>
        <p:spPr>
          <a:xfrm>
            <a:off x="8705088" y="2103120"/>
            <a:ext cx="2788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$13.117.741</a:t>
            </a:r>
          </a:p>
        </p:txBody>
      </p:sp>
      <p:sp>
        <p:nvSpPr>
          <p:cNvPr id="18" name="td"/>
          <p:cNvSpPr/>
          <p:nvPr/>
        </p:nvSpPr>
        <p:spPr>
          <a:xfrm>
            <a:off x="566928" y="2578608"/>
            <a:ext cx="297180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Moderado (70%)</a:t>
            </a:r>
          </a:p>
        </p:txBody>
      </p:sp>
      <p:sp>
        <p:nvSpPr>
          <p:cNvPr id="19" name="td"/>
          <p:cNvSpPr/>
          <p:nvPr/>
        </p:nvSpPr>
        <p:spPr>
          <a:xfrm>
            <a:off x="3538728" y="2578608"/>
            <a:ext cx="237744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552</a:t>
            </a:r>
          </a:p>
        </p:txBody>
      </p:sp>
      <p:sp>
        <p:nvSpPr>
          <p:cNvPr id="20" name="td"/>
          <p:cNvSpPr/>
          <p:nvPr/>
        </p:nvSpPr>
        <p:spPr>
          <a:xfrm>
            <a:off x="5916168" y="2578608"/>
            <a:ext cx="278892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$1.530.403</a:t>
            </a:r>
          </a:p>
        </p:txBody>
      </p:sp>
      <p:sp>
        <p:nvSpPr>
          <p:cNvPr id="21" name="td"/>
          <p:cNvSpPr/>
          <p:nvPr/>
        </p:nvSpPr>
        <p:spPr>
          <a:xfrm>
            <a:off x="8705088" y="2578608"/>
            <a:ext cx="278892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$18.364.838</a:t>
            </a:r>
          </a:p>
        </p:txBody>
      </p:sp>
      <p:sp>
        <p:nvSpPr>
          <p:cNvPr id="22" name="td"/>
          <p:cNvSpPr/>
          <p:nvPr/>
        </p:nvSpPr>
        <p:spPr>
          <a:xfrm>
            <a:off x="566928" y="3054096"/>
            <a:ext cx="29718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Optimista (85%)</a:t>
            </a:r>
          </a:p>
        </p:txBody>
      </p:sp>
      <p:sp>
        <p:nvSpPr>
          <p:cNvPr id="23" name="td"/>
          <p:cNvSpPr/>
          <p:nvPr/>
        </p:nvSpPr>
        <p:spPr>
          <a:xfrm>
            <a:off x="3538728" y="3054096"/>
            <a:ext cx="23774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670</a:t>
            </a:r>
          </a:p>
        </p:txBody>
      </p:sp>
      <p:sp>
        <p:nvSpPr>
          <p:cNvPr id="24" name="td"/>
          <p:cNvSpPr/>
          <p:nvPr/>
        </p:nvSpPr>
        <p:spPr>
          <a:xfrm>
            <a:off x="5916168" y="3054096"/>
            <a:ext cx="2788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$1.858.347</a:t>
            </a:r>
          </a:p>
        </p:txBody>
      </p:sp>
      <p:sp>
        <p:nvSpPr>
          <p:cNvPr id="25" name="td"/>
          <p:cNvSpPr/>
          <p:nvPr/>
        </p:nvSpPr>
        <p:spPr>
          <a:xfrm>
            <a:off x="8705088" y="3054096"/>
            <a:ext cx="27889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$22.300.160</a:t>
            </a:r>
          </a:p>
        </p:txBody>
      </p:sp>
      <p:sp>
        <p:nvSpPr>
          <p:cNvPr id="26" name="sp"/>
          <p:cNvSpPr/>
          <p:nvPr/>
        </p:nvSpPr>
        <p:spPr>
          <a:xfrm>
            <a:off x="566928" y="2578608"/>
            <a:ext cx="10927080" cy="475488"/>
          </a:xfrm>
          <a:prstGeom prst="rect">
            <a:avLst/>
          </a:prstGeom>
          <a:noFill/>
          <a:ln w="22225">
            <a:solidFill>
              <a:srgbClr val="E871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27" name="tb"/>
          <p:cNvSpPr txBox="1"/>
          <p:nvPr/>
        </p:nvSpPr>
        <p:spPr>
          <a:xfrm>
            <a:off x="566928" y="3639312"/>
            <a:ext cx="11064240" cy="292608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250" b="1" i="0" dirty="0">
                <a:solidFill>
                  <a:srgbClr val="123A5E"/>
                </a:solidFill>
                <a:latin typeface="Calibri"/>
                <a:cs typeface="Calibri"/>
              </a:rPr>
              <a:t>Cuadro 3  ·  Beneficio neto y ROI (descontando el Agente IA: $17.100.000/ano)</a:t>
            </a:r>
          </a:p>
        </p:txBody>
      </p:sp>
      <p:sp>
        <p:nvSpPr>
          <p:cNvPr id="28" name="th"/>
          <p:cNvSpPr/>
          <p:nvPr/>
        </p:nvSpPr>
        <p:spPr>
          <a:xfrm>
            <a:off x="566928" y="3950208"/>
            <a:ext cx="233172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Escenario</a:t>
            </a:r>
          </a:p>
        </p:txBody>
      </p:sp>
      <p:sp>
        <p:nvSpPr>
          <p:cNvPr id="29" name="th"/>
          <p:cNvSpPr/>
          <p:nvPr/>
        </p:nvSpPr>
        <p:spPr>
          <a:xfrm>
            <a:off x="2898648" y="3950208"/>
            <a:ext cx="233172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Ahorro anual</a:t>
            </a:r>
          </a:p>
        </p:txBody>
      </p:sp>
      <p:sp>
        <p:nvSpPr>
          <p:cNvPr id="30" name="th"/>
          <p:cNvSpPr/>
          <p:nvPr/>
        </p:nvSpPr>
        <p:spPr>
          <a:xfrm>
            <a:off x="5230368" y="3950208"/>
            <a:ext cx="228600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Costo Agente IA</a:t>
            </a:r>
          </a:p>
        </p:txBody>
      </p:sp>
      <p:sp>
        <p:nvSpPr>
          <p:cNvPr id="31" name="th"/>
          <p:cNvSpPr/>
          <p:nvPr/>
        </p:nvSpPr>
        <p:spPr>
          <a:xfrm>
            <a:off x="7516368" y="3950208"/>
            <a:ext cx="260604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Beneficio neto anual</a:t>
            </a:r>
          </a:p>
        </p:txBody>
      </p:sp>
      <p:sp>
        <p:nvSpPr>
          <p:cNvPr id="32" name="th"/>
          <p:cNvSpPr/>
          <p:nvPr/>
        </p:nvSpPr>
        <p:spPr>
          <a:xfrm>
            <a:off x="10122408" y="3950208"/>
            <a:ext cx="1371600" cy="411480"/>
          </a:xfrm>
          <a:prstGeom prst="rect">
            <a:avLst/>
          </a:prstGeom>
          <a:solidFill>
            <a:srgbClr val="123A5E"/>
          </a:solidFill>
          <a:ln w="6350">
            <a:solidFill>
              <a:srgbClr val="FFFFFF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950" b="1" i="0" dirty="0">
                <a:solidFill>
                  <a:srgbClr val="FFFFFF"/>
                </a:solidFill>
                <a:latin typeface="Calibri"/>
                <a:cs typeface="Calibri"/>
              </a:rPr>
              <a:t>ROI</a:t>
            </a:r>
          </a:p>
        </p:txBody>
      </p:sp>
      <p:sp>
        <p:nvSpPr>
          <p:cNvPr id="33" name="td"/>
          <p:cNvSpPr/>
          <p:nvPr/>
        </p:nvSpPr>
        <p:spPr>
          <a:xfrm>
            <a:off x="566928" y="4361688"/>
            <a:ext cx="2331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Conservador (50%)</a:t>
            </a:r>
          </a:p>
        </p:txBody>
      </p:sp>
      <p:sp>
        <p:nvSpPr>
          <p:cNvPr id="34" name="td"/>
          <p:cNvSpPr/>
          <p:nvPr/>
        </p:nvSpPr>
        <p:spPr>
          <a:xfrm>
            <a:off x="2898648" y="4361688"/>
            <a:ext cx="2331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$13.117.741</a:t>
            </a:r>
          </a:p>
        </p:txBody>
      </p:sp>
      <p:sp>
        <p:nvSpPr>
          <p:cNvPr id="35" name="td"/>
          <p:cNvSpPr/>
          <p:nvPr/>
        </p:nvSpPr>
        <p:spPr>
          <a:xfrm>
            <a:off x="5230368" y="4361688"/>
            <a:ext cx="22860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6B6B6B"/>
                </a:solidFill>
                <a:latin typeface="Calibri"/>
                <a:cs typeface="Calibri"/>
              </a:rPr>
              <a:t>$17.100.000</a:t>
            </a:r>
          </a:p>
        </p:txBody>
      </p:sp>
      <p:sp>
        <p:nvSpPr>
          <p:cNvPr id="36" name="td"/>
          <p:cNvSpPr/>
          <p:nvPr/>
        </p:nvSpPr>
        <p:spPr>
          <a:xfrm>
            <a:off x="7516368" y="4361688"/>
            <a:ext cx="26060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D71920"/>
                </a:solidFill>
                <a:latin typeface="Calibri"/>
                <a:cs typeface="Calibri"/>
              </a:rPr>
              <a:t>-$3.982.259</a:t>
            </a:r>
          </a:p>
        </p:txBody>
      </p:sp>
      <p:sp>
        <p:nvSpPr>
          <p:cNvPr id="37" name="td"/>
          <p:cNvSpPr/>
          <p:nvPr/>
        </p:nvSpPr>
        <p:spPr>
          <a:xfrm>
            <a:off x="10122408" y="4361688"/>
            <a:ext cx="1371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D71920"/>
                </a:solidFill>
                <a:latin typeface="Calibri"/>
                <a:cs typeface="Calibri"/>
              </a:rPr>
              <a:t>-23%</a:t>
            </a:r>
          </a:p>
        </p:txBody>
      </p:sp>
      <p:sp>
        <p:nvSpPr>
          <p:cNvPr id="38" name="td"/>
          <p:cNvSpPr/>
          <p:nvPr/>
        </p:nvSpPr>
        <p:spPr>
          <a:xfrm>
            <a:off x="566928" y="4837176"/>
            <a:ext cx="233172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Moderado (70%)</a:t>
            </a:r>
          </a:p>
        </p:txBody>
      </p:sp>
      <p:sp>
        <p:nvSpPr>
          <p:cNvPr id="39" name="td"/>
          <p:cNvSpPr/>
          <p:nvPr/>
        </p:nvSpPr>
        <p:spPr>
          <a:xfrm>
            <a:off x="2898648" y="4837176"/>
            <a:ext cx="233172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$18.364.838</a:t>
            </a:r>
          </a:p>
        </p:txBody>
      </p:sp>
      <p:sp>
        <p:nvSpPr>
          <p:cNvPr id="40" name="td"/>
          <p:cNvSpPr/>
          <p:nvPr/>
        </p:nvSpPr>
        <p:spPr>
          <a:xfrm>
            <a:off x="5230368" y="4837176"/>
            <a:ext cx="228600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6B6B6B"/>
                </a:solidFill>
                <a:latin typeface="Calibri"/>
                <a:cs typeface="Calibri"/>
              </a:rPr>
              <a:t>$17.100.000</a:t>
            </a:r>
          </a:p>
        </p:txBody>
      </p:sp>
      <p:sp>
        <p:nvSpPr>
          <p:cNvPr id="41" name="td"/>
          <p:cNvSpPr/>
          <p:nvPr/>
        </p:nvSpPr>
        <p:spPr>
          <a:xfrm>
            <a:off x="7516368" y="4837176"/>
            <a:ext cx="260604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+$1.264.838</a:t>
            </a:r>
          </a:p>
        </p:txBody>
      </p:sp>
      <p:sp>
        <p:nvSpPr>
          <p:cNvPr id="42" name="td"/>
          <p:cNvSpPr/>
          <p:nvPr/>
        </p:nvSpPr>
        <p:spPr>
          <a:xfrm>
            <a:off x="10122408" y="4837176"/>
            <a:ext cx="1371600" cy="475488"/>
          </a:xfrm>
          <a:prstGeom prst="rect">
            <a:avLst/>
          </a:prstGeom>
          <a:solidFill>
            <a:srgbClr val="FCE9D6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+7%</a:t>
            </a:r>
          </a:p>
        </p:txBody>
      </p:sp>
      <p:sp>
        <p:nvSpPr>
          <p:cNvPr id="43" name="td"/>
          <p:cNvSpPr/>
          <p:nvPr/>
        </p:nvSpPr>
        <p:spPr>
          <a:xfrm>
            <a:off x="566928" y="5312664"/>
            <a:ext cx="2331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333333"/>
                </a:solidFill>
                <a:latin typeface="Calibri"/>
                <a:cs typeface="Calibri"/>
              </a:rPr>
              <a:t>Optimista (85%)</a:t>
            </a:r>
          </a:p>
        </p:txBody>
      </p:sp>
      <p:sp>
        <p:nvSpPr>
          <p:cNvPr id="44" name="td"/>
          <p:cNvSpPr/>
          <p:nvPr/>
        </p:nvSpPr>
        <p:spPr>
          <a:xfrm>
            <a:off x="2898648" y="5312664"/>
            <a:ext cx="233172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333333"/>
                </a:solidFill>
                <a:latin typeface="Calibri"/>
                <a:cs typeface="Calibri"/>
              </a:rPr>
              <a:t>$22.300.160</a:t>
            </a:r>
          </a:p>
        </p:txBody>
      </p:sp>
      <p:sp>
        <p:nvSpPr>
          <p:cNvPr id="45" name="td"/>
          <p:cNvSpPr/>
          <p:nvPr/>
        </p:nvSpPr>
        <p:spPr>
          <a:xfrm>
            <a:off x="5230368" y="5312664"/>
            <a:ext cx="22860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0" i="0" dirty="0">
                <a:solidFill>
                  <a:srgbClr val="6B6B6B"/>
                </a:solidFill>
                <a:latin typeface="Calibri"/>
                <a:cs typeface="Calibri"/>
              </a:rPr>
              <a:t>$17.100.000</a:t>
            </a:r>
          </a:p>
        </p:txBody>
      </p:sp>
      <p:sp>
        <p:nvSpPr>
          <p:cNvPr id="46" name="td"/>
          <p:cNvSpPr/>
          <p:nvPr/>
        </p:nvSpPr>
        <p:spPr>
          <a:xfrm>
            <a:off x="7516368" y="5312664"/>
            <a:ext cx="26060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+$5.200.160</a:t>
            </a:r>
          </a:p>
        </p:txBody>
      </p:sp>
      <p:sp>
        <p:nvSpPr>
          <p:cNvPr id="47" name="td"/>
          <p:cNvSpPr/>
          <p:nvPr/>
        </p:nvSpPr>
        <p:spPr>
          <a:xfrm>
            <a:off x="10122408" y="5312664"/>
            <a:ext cx="137160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CDCDC"/>
            </a:solidFill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lnSpc>
                <a:spcPct val="90000"/>
              </a:lnSpc>
              <a:buNone/>
            </a:pPr>
            <a:r>
              <a:rPr lang="es-ES" sz="1000" b="1" i="0" dirty="0">
                <a:solidFill>
                  <a:srgbClr val="123A5E"/>
                </a:solidFill>
                <a:latin typeface="Calibri"/>
                <a:cs typeface="Calibri"/>
              </a:rPr>
              <a:t>+30%</a:t>
            </a:r>
          </a:p>
        </p:txBody>
      </p:sp>
      <p:sp>
        <p:nvSpPr>
          <p:cNvPr id="48" name="sp"/>
          <p:cNvSpPr/>
          <p:nvPr/>
        </p:nvSpPr>
        <p:spPr>
          <a:xfrm>
            <a:off x="566928" y="4837176"/>
            <a:ext cx="10927080" cy="475488"/>
          </a:xfrm>
          <a:prstGeom prst="rect">
            <a:avLst/>
          </a:prstGeom>
          <a:noFill/>
          <a:ln w="22225">
            <a:solidFill>
              <a:srgbClr val="E871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49" name="sp"/>
          <p:cNvSpPr/>
          <p:nvPr/>
        </p:nvSpPr>
        <p:spPr>
          <a:xfrm>
            <a:off x="566928" y="5870448"/>
            <a:ext cx="11064240" cy="548640"/>
          </a:xfrm>
          <a:prstGeom prst="roundRect">
            <a:avLst/>
          </a:prstGeom>
          <a:solidFill>
            <a:srgbClr val="262626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50" name="sp"/>
          <p:cNvSpPr/>
          <p:nvPr/>
        </p:nvSpPr>
        <p:spPr>
          <a:xfrm>
            <a:off x="566928" y="5870448"/>
            <a:ext cx="128016" cy="5486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1" name="tb"/>
          <p:cNvSpPr txBox="1"/>
          <p:nvPr/>
        </p:nvSpPr>
        <p:spPr>
          <a:xfrm>
            <a:off x="896112" y="5916168"/>
            <a:ext cx="10607040" cy="502920"/>
          </a:xfrm>
          <a:prstGeom prst="rect">
            <a:avLst/>
          </a:prstGeom>
          <a:noFill/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00" b="1" i="0" spc="120" dirty="0">
                <a:solidFill>
                  <a:srgbClr val="E8711E"/>
                </a:solidFill>
                <a:latin typeface="Calibri"/>
                <a:cs typeface="Calibri"/>
              </a:rPr>
              <a:t>CONCLUSION   </a:t>
            </a:r>
            <a:r>
              <a:rPr lang="es-ES" sz="1000" b="0" i="0" dirty="0">
                <a:solidFill>
                  <a:srgbClr val="E6EDF3"/>
                </a:solidFill>
                <a:latin typeface="Calibri"/>
                <a:cs typeface="Calibri"/>
              </a:rPr>
              <a:t>Punto de equilibrio ~65% de efectividad. Inversion unica de normalizacion: $301.320 (40 HHEE x $7.533). Cifras conservadoras: no incluyen mejor CX, ventas recuperadas ni menor inventario inmovilizado.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HOJA DE RUTA DEL PROGRAMA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Roadmap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7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822960" y="3429000"/>
            <a:ext cx="10515600" cy="45720"/>
          </a:xfrm>
          <a:prstGeom prst="rect">
            <a:avLst/>
          </a:prstGeom>
          <a:solidFill>
            <a:srgbClr val="DCDCD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158496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1" name="sp"/>
          <p:cNvSpPr/>
          <p:nvPr/>
        </p:nvSpPr>
        <p:spPr>
          <a:xfrm>
            <a:off x="105156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2" name="tb"/>
          <p:cNvSpPr txBox="1"/>
          <p:nvPr/>
        </p:nvSpPr>
        <p:spPr>
          <a:xfrm>
            <a:off x="105156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MAY - JUN</a:t>
            </a:r>
          </a:p>
        </p:txBody>
      </p:sp>
      <p:sp>
        <p:nvSpPr>
          <p:cNvPr id="13" name="tb"/>
          <p:cNvSpPr txBox="1"/>
          <p:nvPr/>
        </p:nvSpPr>
        <p:spPr>
          <a:xfrm>
            <a:off x="110642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Evaluacion IA SimpliRoute</a:t>
            </a:r>
          </a:p>
        </p:txBody>
      </p:sp>
      <p:sp>
        <p:nvSpPr>
          <p:cNvPr id="14" name="sp"/>
          <p:cNvSpPr/>
          <p:nvPr/>
        </p:nvSpPr>
        <p:spPr>
          <a:xfrm>
            <a:off x="1804416" y="310896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5" name="sp"/>
          <p:cNvSpPr/>
          <p:nvPr/>
        </p:nvSpPr>
        <p:spPr>
          <a:xfrm>
            <a:off x="3291840" y="3218688"/>
            <a:ext cx="457200" cy="457200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16" name="sp"/>
          <p:cNvSpPr/>
          <p:nvPr/>
        </p:nvSpPr>
        <p:spPr>
          <a:xfrm>
            <a:off x="3511296" y="3429000"/>
            <a:ext cx="18288" cy="320040"/>
          </a:xfrm>
          <a:prstGeom prst="rect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7" name="sp"/>
          <p:cNvSpPr/>
          <p:nvPr/>
        </p:nvSpPr>
        <p:spPr>
          <a:xfrm>
            <a:off x="275844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8" name="tb"/>
          <p:cNvSpPr txBox="1"/>
          <p:nvPr/>
        </p:nvSpPr>
        <p:spPr>
          <a:xfrm>
            <a:off x="275844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23A5E"/>
                </a:solidFill>
                <a:latin typeface="Calibri"/>
                <a:cs typeface="Calibri"/>
              </a:rPr>
              <a:t>JUNIO</a:t>
            </a:r>
          </a:p>
        </p:txBody>
      </p:sp>
      <p:sp>
        <p:nvSpPr>
          <p:cNvPr id="19" name="tb"/>
          <p:cNvSpPr txBox="1"/>
          <p:nvPr/>
        </p:nvSpPr>
        <p:spPr>
          <a:xfrm>
            <a:off x="281330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Correccion masiva base de clientes</a:t>
            </a:r>
          </a:p>
        </p:txBody>
      </p:sp>
      <p:sp>
        <p:nvSpPr>
          <p:cNvPr id="20" name="sp"/>
          <p:cNvSpPr/>
          <p:nvPr/>
        </p:nvSpPr>
        <p:spPr>
          <a:xfrm>
            <a:off x="499872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1" name="sp"/>
          <p:cNvSpPr/>
          <p:nvPr/>
        </p:nvSpPr>
        <p:spPr>
          <a:xfrm>
            <a:off x="446532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tb"/>
          <p:cNvSpPr txBox="1"/>
          <p:nvPr/>
        </p:nvSpPr>
        <p:spPr>
          <a:xfrm>
            <a:off x="446532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JUN - JUL</a:t>
            </a:r>
          </a:p>
        </p:txBody>
      </p:sp>
      <p:sp>
        <p:nvSpPr>
          <p:cNvPr id="23" name="tb"/>
          <p:cNvSpPr txBox="1"/>
          <p:nvPr/>
        </p:nvSpPr>
        <p:spPr>
          <a:xfrm>
            <a:off x="452018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Desarrollo formularios normalizados</a:t>
            </a:r>
          </a:p>
        </p:txBody>
      </p:sp>
      <p:sp>
        <p:nvSpPr>
          <p:cNvPr id="24" name="sp"/>
          <p:cNvSpPr/>
          <p:nvPr/>
        </p:nvSpPr>
        <p:spPr>
          <a:xfrm>
            <a:off x="5218176" y="310896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5" name="sp"/>
          <p:cNvSpPr/>
          <p:nvPr/>
        </p:nvSpPr>
        <p:spPr>
          <a:xfrm>
            <a:off x="6705600" y="3218688"/>
            <a:ext cx="457200" cy="457200"/>
          </a:xfrm>
          <a:prstGeom prst="ellipse">
            <a:avLst/>
          </a:prstGeom>
          <a:solidFill>
            <a:srgbClr val="1C5A8C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✓</a:t>
            </a:r>
          </a:p>
        </p:txBody>
      </p:sp>
      <p:sp>
        <p:nvSpPr>
          <p:cNvPr id="26" name="sp"/>
          <p:cNvSpPr/>
          <p:nvPr/>
        </p:nvSpPr>
        <p:spPr>
          <a:xfrm>
            <a:off x="6925056" y="3429000"/>
            <a:ext cx="18288" cy="320040"/>
          </a:xfrm>
          <a:prstGeom prst="rect">
            <a:avLst/>
          </a:prstGeom>
          <a:solidFill>
            <a:srgbClr val="1C5A8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7" name="sp"/>
          <p:cNvSpPr/>
          <p:nvPr/>
        </p:nvSpPr>
        <p:spPr>
          <a:xfrm>
            <a:off x="617220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8" name="tb"/>
          <p:cNvSpPr txBox="1"/>
          <p:nvPr/>
        </p:nvSpPr>
        <p:spPr>
          <a:xfrm>
            <a:off x="617220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1C5A8C"/>
                </a:solidFill>
                <a:latin typeface="Calibri"/>
                <a:cs typeface="Calibri"/>
              </a:rPr>
              <a:t>JULIO</a:t>
            </a:r>
          </a:p>
        </p:txBody>
      </p:sp>
      <p:sp>
        <p:nvSpPr>
          <p:cNvPr id="29" name="tb"/>
          <p:cNvSpPr txBox="1"/>
          <p:nvPr/>
        </p:nvSpPr>
        <p:spPr>
          <a:xfrm>
            <a:off x="622706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Implementacion Agente IA</a:t>
            </a:r>
          </a:p>
        </p:txBody>
      </p:sp>
      <p:sp>
        <p:nvSpPr>
          <p:cNvPr id="30" name="sp"/>
          <p:cNvSpPr/>
          <p:nvPr/>
        </p:nvSpPr>
        <p:spPr>
          <a:xfrm>
            <a:off x="841248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1" name="sp"/>
          <p:cNvSpPr/>
          <p:nvPr/>
        </p:nvSpPr>
        <p:spPr>
          <a:xfrm>
            <a:off x="7879080" y="173736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2" name="tb"/>
          <p:cNvSpPr txBox="1"/>
          <p:nvPr/>
        </p:nvSpPr>
        <p:spPr>
          <a:xfrm>
            <a:off x="7879080" y="186537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AGO - SEP</a:t>
            </a:r>
          </a:p>
        </p:txBody>
      </p:sp>
      <p:sp>
        <p:nvSpPr>
          <p:cNvPr id="33" name="tb"/>
          <p:cNvSpPr txBox="1"/>
          <p:nvPr/>
        </p:nvSpPr>
        <p:spPr>
          <a:xfrm>
            <a:off x="7933944" y="221284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Expansion Same Day RM</a:t>
            </a:r>
          </a:p>
        </p:txBody>
      </p:sp>
      <p:sp>
        <p:nvSpPr>
          <p:cNvPr id="34" name="sp"/>
          <p:cNvSpPr/>
          <p:nvPr/>
        </p:nvSpPr>
        <p:spPr>
          <a:xfrm>
            <a:off x="8631936" y="310896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5" name="sp"/>
          <p:cNvSpPr/>
          <p:nvPr/>
        </p:nvSpPr>
        <p:spPr>
          <a:xfrm>
            <a:off x="10119360" y="3218688"/>
            <a:ext cx="457200" cy="457200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~</a:t>
            </a:r>
          </a:p>
        </p:txBody>
      </p:sp>
      <p:sp>
        <p:nvSpPr>
          <p:cNvPr id="36" name="sp"/>
          <p:cNvSpPr/>
          <p:nvPr/>
        </p:nvSpPr>
        <p:spPr>
          <a:xfrm>
            <a:off x="10338816" y="3429000"/>
            <a:ext cx="18288" cy="32004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7" name="sp"/>
          <p:cNvSpPr/>
          <p:nvPr/>
        </p:nvSpPr>
        <p:spPr>
          <a:xfrm>
            <a:off x="9585960" y="3749040"/>
            <a:ext cx="152400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38" name="tb"/>
          <p:cNvSpPr txBox="1"/>
          <p:nvPr/>
        </p:nvSpPr>
        <p:spPr>
          <a:xfrm>
            <a:off x="9585960" y="3877056"/>
            <a:ext cx="15240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050" b="1" i="0" dirty="0">
                <a:solidFill>
                  <a:srgbClr val="E8711E"/>
                </a:solidFill>
                <a:latin typeface="Calibri"/>
                <a:cs typeface="Calibri"/>
              </a:rPr>
              <a:t>SEP - OCT</a:t>
            </a:r>
          </a:p>
        </p:txBody>
      </p:sp>
      <p:sp>
        <p:nvSpPr>
          <p:cNvPr id="39" name="tb"/>
          <p:cNvSpPr txBox="1"/>
          <p:nvPr/>
        </p:nvSpPr>
        <p:spPr>
          <a:xfrm>
            <a:off x="9640824" y="4224528"/>
            <a:ext cx="1414272" cy="8229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ctr">
              <a:lnSpc>
                <a:spcPct val="98000"/>
              </a:lnSpc>
              <a:buNone/>
            </a:pPr>
            <a:r>
              <a:rPr lang="es-ES" sz="1150" b="0" i="0" dirty="0">
                <a:solidFill>
                  <a:srgbClr val="333333"/>
                </a:solidFill>
                <a:latin typeface="Calibri"/>
                <a:cs typeface="Calibri"/>
              </a:rPr>
              <a:t>Proyecto Omnicanalidad Retail</a:t>
            </a:r>
          </a:p>
        </p:txBody>
      </p:sp>
      <p:sp>
        <p:nvSpPr>
          <p:cNvPr id="40" name="sp"/>
          <p:cNvSpPr/>
          <p:nvPr/>
        </p:nvSpPr>
        <p:spPr>
          <a:xfrm>
            <a:off x="566928" y="5897880"/>
            <a:ext cx="256032" cy="256032"/>
          </a:xfrm>
          <a:prstGeom prst="ellipse">
            <a:avLst/>
          </a:prstGeom>
          <a:solidFill>
            <a:srgbClr val="123A5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1" name="tb"/>
          <p:cNvSpPr txBox="1"/>
          <p:nvPr/>
        </p:nvSpPr>
        <p:spPr>
          <a:xfrm>
            <a:off x="868680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Completado</a:t>
            </a:r>
          </a:p>
        </p:txBody>
      </p:sp>
      <p:sp>
        <p:nvSpPr>
          <p:cNvPr id="42" name="sp"/>
          <p:cNvSpPr/>
          <p:nvPr/>
        </p:nvSpPr>
        <p:spPr>
          <a:xfrm>
            <a:off x="2468880" y="5897880"/>
            <a:ext cx="256032" cy="256032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3" name="tb"/>
          <p:cNvSpPr txBox="1"/>
          <p:nvPr/>
        </p:nvSpPr>
        <p:spPr>
          <a:xfrm>
            <a:off x="2770632" y="5852160"/>
            <a:ext cx="2743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0" i="0" dirty="0">
                <a:solidFill>
                  <a:srgbClr val="6B6B6B"/>
                </a:solidFill>
                <a:latin typeface="Calibri"/>
                <a:cs typeface="Calibri"/>
              </a:rPr>
              <a:t>En curso / planificado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"/>
          <p:cNvSpPr/>
          <p:nvPr/>
        </p:nvSpPr>
        <p:spPr>
          <a:xfrm>
            <a:off x="0" y="0"/>
            <a:ext cx="12192000" cy="1207008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3" name="logoring"/>
          <p:cNvSpPr/>
          <p:nvPr/>
        </p:nvSpPr>
        <p:spPr>
          <a:xfrm>
            <a:off x="10561320" y="164592"/>
            <a:ext cx="868680" cy="86868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4" name="logo"/>
          <p:cNvSpPr/>
          <p:nvPr/>
        </p:nvSpPr>
        <p:spPr>
          <a:xfrm>
            <a:off x="10635157" y="238429"/>
            <a:ext cx="721006" cy="72100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spc="120" dirty="0">
                <a:solidFill>
                  <a:srgbClr val="FFFFFF"/>
                </a:solidFill>
                <a:latin typeface="Calibri"/>
                <a:cs typeface="Calibri"/>
              </a:rPr>
              <a:t>CAV</a:t>
            </a:r>
          </a:p>
        </p:txBody>
      </p:sp>
      <p:sp>
        <p:nvSpPr>
          <p:cNvPr id="5" name="tb"/>
          <p:cNvSpPr txBox="1"/>
          <p:nvPr/>
        </p:nvSpPr>
        <p:spPr>
          <a:xfrm>
            <a:off x="548640" y="182880"/>
            <a:ext cx="960120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050" b="1" i="0" spc="200" dirty="0">
                <a:solidFill>
                  <a:srgbClr val="E8711E"/>
                </a:solidFill>
                <a:latin typeface="Calibri"/>
                <a:cs typeface="Calibri"/>
              </a:rPr>
              <a:t>RESULTADOS EN CUATRO DIMENSIONES</a:t>
            </a:r>
          </a:p>
        </p:txBody>
      </p:sp>
      <p:sp>
        <p:nvSpPr>
          <p:cNvPr id="6" name="tb"/>
          <p:cNvSpPr txBox="1"/>
          <p:nvPr/>
        </p:nvSpPr>
        <p:spPr>
          <a:xfrm>
            <a:off x="530352" y="457200"/>
            <a:ext cx="9692640" cy="7315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2600" b="1" i="0" dirty="0">
                <a:solidFill>
                  <a:srgbClr val="FFFFFF"/>
                </a:solidFill>
                <a:latin typeface="Calibri"/>
                <a:cs typeface="Calibri"/>
              </a:rPr>
              <a:t>Impacto Esperado</a:t>
            </a:r>
          </a:p>
        </p:txBody>
      </p:sp>
      <p:sp>
        <p:nvSpPr>
          <p:cNvPr id="7" name="sp"/>
          <p:cNvSpPr/>
          <p:nvPr/>
        </p:nvSpPr>
        <p:spPr>
          <a:xfrm>
            <a:off x="566928" y="1371600"/>
            <a:ext cx="420624" cy="420624"/>
          </a:xfrm>
          <a:prstGeom prst="ellipse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300" b="1" i="0" dirty="0">
                <a:solidFill>
                  <a:srgbClr val="FFFFFF"/>
                </a:solidFill>
                <a:latin typeface="Calibri"/>
                <a:cs typeface="Calibri"/>
              </a:rPr>
              <a:t>8</a:t>
            </a:r>
          </a:p>
        </p:txBody>
      </p:sp>
      <p:sp>
        <p:nvSpPr>
          <p:cNvPr id="8" name="rule"/>
          <p:cNvSpPr/>
          <p:nvPr/>
        </p:nvSpPr>
        <p:spPr>
          <a:xfrm>
            <a:off x="0" y="1207008"/>
            <a:ext cx="12192000" cy="4572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" name="sp"/>
          <p:cNvSpPr/>
          <p:nvPr/>
        </p:nvSpPr>
        <p:spPr>
          <a:xfrm>
            <a:off x="566928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sp"/>
          <p:cNvSpPr/>
          <p:nvPr/>
        </p:nvSpPr>
        <p:spPr>
          <a:xfrm>
            <a:off x="566928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Operacion</a:t>
            </a:r>
          </a:p>
        </p:txBody>
      </p:sp>
      <p:sp>
        <p:nvSpPr>
          <p:cNvPr id="11" name="tb"/>
          <p:cNvSpPr txBox="1"/>
          <p:nvPr/>
        </p:nvSpPr>
        <p:spPr>
          <a:xfrm>
            <a:off x="731520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entregas fallidas.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reprocesos.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Menos retornos al CD.</a:t>
            </a:r>
          </a:p>
        </p:txBody>
      </p:sp>
      <p:sp>
        <p:nvSpPr>
          <p:cNvPr id="12" name="sp"/>
          <p:cNvSpPr/>
          <p:nvPr/>
        </p:nvSpPr>
        <p:spPr>
          <a:xfrm>
            <a:off x="3364992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sp"/>
          <p:cNvSpPr/>
          <p:nvPr/>
        </p:nvSpPr>
        <p:spPr>
          <a:xfrm>
            <a:off x="3364992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Cliente</a:t>
            </a:r>
          </a:p>
        </p:txBody>
      </p:sp>
      <p:sp>
        <p:nvSpPr>
          <p:cNvPr id="14" name="tb"/>
          <p:cNvSpPr txBox="1"/>
          <p:nvPr/>
        </p:nvSpPr>
        <p:spPr>
          <a:xfrm>
            <a:off x="3529584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Direcciones correctas.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Entregas mas rapidas.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Mejor experiencia de compra.</a:t>
            </a:r>
          </a:p>
        </p:txBody>
      </p:sp>
      <p:sp>
        <p:nvSpPr>
          <p:cNvPr id="15" name="sp"/>
          <p:cNvSpPr/>
          <p:nvPr/>
        </p:nvSpPr>
        <p:spPr>
          <a:xfrm>
            <a:off x="6163056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sp"/>
          <p:cNvSpPr/>
          <p:nvPr/>
        </p:nvSpPr>
        <p:spPr>
          <a:xfrm>
            <a:off x="6163056" y="1737360"/>
            <a:ext cx="2679192" cy="640080"/>
          </a:xfrm>
          <a:prstGeom prst="round2SameRect">
            <a:avLst/>
          </a:prstGeom>
          <a:solidFill>
            <a:srgbClr val="123A5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Comercial</a:t>
            </a:r>
          </a:p>
        </p:txBody>
      </p:sp>
      <p:sp>
        <p:nvSpPr>
          <p:cNvPr id="17" name="tb"/>
          <p:cNvSpPr txBox="1"/>
          <p:nvPr/>
        </p:nvSpPr>
        <p:spPr>
          <a:xfrm>
            <a:off x="6327648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Mas ventas.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disponibilidad de inventario.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123A5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Omnicanalidad.</a:t>
            </a:r>
          </a:p>
        </p:txBody>
      </p:sp>
      <p:sp>
        <p:nvSpPr>
          <p:cNvPr id="18" name="sp"/>
          <p:cNvSpPr/>
          <p:nvPr/>
        </p:nvSpPr>
        <p:spPr>
          <a:xfrm>
            <a:off x="8961120" y="1737360"/>
            <a:ext cx="2679192" cy="2514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CDCDC"/>
            </a:solidFill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9" name="sp"/>
          <p:cNvSpPr/>
          <p:nvPr/>
        </p:nvSpPr>
        <p:spPr>
          <a:xfrm>
            <a:off x="8961120" y="1737360"/>
            <a:ext cx="2679192" cy="640080"/>
          </a:xfrm>
          <a:prstGeom prst="round2SameRect">
            <a:avLst/>
          </a:prstGeom>
          <a:solidFill>
            <a:srgbClr val="E8711E"/>
          </a:solidFill>
          <a:ln>
            <a:noFill/>
          </a:ln>
        </p:spPr>
        <p:txBody>
          <a:bodyPr wrap="square" anchor="ctr" lIns="73152" tIns="36576" rIns="73152" bIns="36576">
            <a:normAutofit/>
          </a:bodyPr>
          <a:lstStyle/>
          <a:p>
            <a:pPr marL="0" indent="0" lvl="0" algn="ctr">
              <a:buNone/>
            </a:pPr>
            <a:r>
              <a:rPr lang="es-ES" sz="1500" b="1" i="0" dirty="0">
                <a:solidFill>
                  <a:srgbClr val="FFFFFF"/>
                </a:solidFill>
                <a:latin typeface="Calibri"/>
                <a:cs typeface="Calibri"/>
              </a:rPr>
              <a:t>Financiero</a:t>
            </a:r>
          </a:p>
        </p:txBody>
      </p:sp>
      <p:sp>
        <p:nvSpPr>
          <p:cNvPr id="20" name="tb"/>
          <p:cNvSpPr txBox="1"/>
          <p:nvPr/>
        </p:nvSpPr>
        <p:spPr>
          <a:xfrm>
            <a:off x="9125712" y="2514600"/>
            <a:ext cx="2350008" cy="160020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Ahorro operativo.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Mayor productividad logistica.</a:t>
            </a:r>
          </a:p>
          <a:p>
            <a:pPr marL="228600" indent="-228600" lvl="0" algn="l">
              <a:lnSpc>
                <a:spcPct val="100000"/>
              </a:lnSpc>
              <a:spcAft>
                <a:spcPts val="300"/>
              </a:spcAft>
              <a:buClr>
                <a:srgbClr val="E8711E"/>
              </a:buClr>
              <a:buFont typeface="Arial"/>
              <a:buChar char="•"/>
            </a:pPr>
            <a:r>
              <a:rPr lang="es-ES" sz="1200" b="0" i="0" dirty="0">
                <a:solidFill>
                  <a:srgbClr val="333333"/>
                </a:solidFill>
                <a:latin typeface="Calibri"/>
                <a:cs typeface="Calibri"/>
              </a:rPr>
              <a:t>Incremento potencial de ingresos.</a:t>
            </a:r>
          </a:p>
        </p:txBody>
      </p:sp>
      <p:sp>
        <p:nvSpPr>
          <p:cNvPr id="21" name="sp"/>
          <p:cNvSpPr/>
          <p:nvPr/>
        </p:nvSpPr>
        <p:spPr>
          <a:xfrm>
            <a:off x="566928" y="4526280"/>
            <a:ext cx="11064240" cy="1554480"/>
          </a:xfrm>
          <a:prstGeom prst="roundRect">
            <a:avLst/>
          </a:prstGeom>
          <a:solidFill>
            <a:srgbClr val="262626"/>
          </a:solidFill>
          <a:ln>
            <a:noFill/>
          </a:ln>
          <a:effectLst>
            <a:outerShdw blurRad="50000" dist="25000" dir="5400000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22" name="sp"/>
          <p:cNvSpPr/>
          <p:nvPr/>
        </p:nvSpPr>
        <p:spPr>
          <a:xfrm>
            <a:off x="566928" y="4526280"/>
            <a:ext cx="128016" cy="1554480"/>
          </a:xfrm>
          <a:prstGeom prst="rect">
            <a:avLst/>
          </a:prstGeom>
          <a:solidFill>
            <a:srgbClr val="E8711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23" name="tb"/>
          <p:cNvSpPr txBox="1"/>
          <p:nvPr/>
        </p:nvSpPr>
        <p:spPr>
          <a:xfrm>
            <a:off x="914400" y="4672584"/>
            <a:ext cx="10424160" cy="36576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buNone/>
            </a:pPr>
            <a:r>
              <a:rPr lang="es-ES" sz="1150" b="1" i="0" spc="180" dirty="0">
                <a:solidFill>
                  <a:srgbClr val="E8711E"/>
                </a:solidFill>
                <a:latin typeface="Calibri"/>
                <a:cs typeface="Calibri"/>
              </a:rPr>
              <a:t>MENSAJE FINAL PARA GERENCIA</a:t>
            </a:r>
          </a:p>
        </p:txBody>
      </p:sp>
      <p:sp>
        <p:nvSpPr>
          <p:cNvPr id="24" name="tb"/>
          <p:cNvSpPr txBox="1"/>
          <p:nvPr/>
        </p:nvSpPr>
        <p:spPr>
          <a:xfrm>
            <a:off x="914400" y="5029200"/>
            <a:ext cx="10469880" cy="960120"/>
          </a:xfrm>
          <a:prstGeom prst="rect">
            <a:avLst/>
          </a:prstGeom>
          <a:noFill/>
        </p:spPr>
        <p:txBody>
          <a:bodyPr wrap="square" anchor="t" lIns="73152" tIns="36576" rIns="73152" bIns="36576">
            <a:normAutofit/>
          </a:bodyPr>
          <a:lstStyle/>
          <a:p>
            <a:pPr marL="0" indent="0" lvl="0" algn="l">
              <a:lnSpc>
                <a:spcPct val="108000"/>
              </a:lnSpc>
              <a:buNone/>
            </a:pPr>
            <a:r>
              <a:rPr lang="es-ES" sz="1300" b="0" i="1" dirty="0">
                <a:solidFill>
                  <a:srgbClr val="E6EDF3"/>
                </a:solidFill>
                <a:latin typeface="Calibri"/>
                <a:cs typeface="Calibri"/>
              </a:rPr>
              <a:t>Estamos construyendo las capacidades para que CAV opere con una vision omnicanal real, donde los datos de clientes, la logistica inteligente y la disponibilidad de inventario trabajen integradas para mejorar la experiencia de compra, reducir costos operacionales y habilitar el crecimiento futuro del negocio.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V">
  <a:themeElements>
    <a:clrScheme name="CAV">
      <a:dk1>
        <a:sysClr val="windowText" lastClr="000000"/>
      </a:dk1>
      <a:lt1>
        <a:sysClr val="window" lastClr="FFFFFF"/>
      </a:lt1>
      <a:dk2>
        <a:srgbClr val="123A5E"/>
      </a:dk2>
      <a:lt2>
        <a:srgbClr val="F4F4F4"/>
      </a:lt2>
      <a:accent1>
        <a:srgbClr val="123A5E"/>
      </a:accent1>
      <a:accent2>
        <a:srgbClr val="E8711E"/>
      </a:accent2>
      <a:accent3>
        <a:srgbClr val="1C5A8C"/>
      </a:accent3>
      <a:accent4>
        <a:srgbClr val="1C5A8C"/>
      </a:accent4>
      <a:accent5>
        <a:srgbClr val="6B6B6B"/>
      </a:accent5>
      <a:accent6>
        <a:srgbClr val="333333"/>
      </a:accent6>
      <a:hlink>
        <a:srgbClr val="1F6FB2"/>
      </a:hlink>
      <a:folHlink>
        <a:srgbClr val="954F72"/>
      </a:folHlink>
    </a:clrScheme>
    <a:fontScheme name="CAV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CAV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
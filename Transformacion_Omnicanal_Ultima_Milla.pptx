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800">
          <a:solidFill>
            <a:schemeClr val="tx1"/>
          </a:solidFill>
          <a:latin typeface="+mj-lt"/>
        </a:defRPr>
      </a:lvl1pPr>
    </p:titleStyle>
    <p:bodyStyle>
      <a:lvl1pPr>
        <a:defRPr sz="1800">
          <a:solidFill>
            <a:schemeClr val="tx1"/>
          </a:solidFill>
          <a:latin typeface="+mn-lt"/>
        </a:defRPr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454545"/>
              </a:gs>
              <a:gs pos="100000">
                <a:srgbClr val="2B2B2B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band"/>
          <p:cNvSpPr/>
          <p:nvPr/>
        </p:nvSpPr>
        <p:spPr>
          <a:xfrm>
            <a:off x="7955279" y="0"/>
            <a:ext cx="4297680" cy="685800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ine"/>
          <p:cNvSpPr/>
          <p:nvPr/>
        </p:nvSpPr>
        <p:spPr>
          <a:xfrm>
            <a:off x="7680960" y="0"/>
            <a:ext cx="146304" cy="685800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" name="logoring"/>
          <p:cNvSpPr/>
          <p:nvPr/>
        </p:nvSpPr>
        <p:spPr>
          <a:xfrm>
            <a:off x="10698480" y="5029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" name="logo"/>
          <p:cNvSpPr/>
          <p:nvPr/>
        </p:nvSpPr>
        <p:spPr>
          <a:xfrm>
            <a:off x="10780090" y="584530"/>
            <a:ext cx="796900" cy="79690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7" name="tb"/>
          <p:cNvSpPr txBox="1"/>
          <p:nvPr/>
        </p:nvSpPr>
        <p:spPr>
          <a:xfrm>
            <a:off x="777240" y="868680"/>
            <a:ext cx="7315200" cy="457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00" b="1" i="0" spc="240" dirty="0">
                <a:solidFill>
                  <a:srgbClr val="E8711E"/>
                </a:solidFill>
                <a:latin typeface="Calibri"/>
                <a:cs typeface="Calibri"/>
              </a:rPr>
              <a:t>LAMINA 1  ·  VISION GENERAL</a:t>
            </a:r>
          </a:p>
        </p:txBody>
      </p:sp>
      <p:sp>
        <p:nvSpPr>
          <p:cNvPr id="8" name="tb"/>
          <p:cNvSpPr txBox="1"/>
          <p:nvPr/>
        </p:nvSpPr>
        <p:spPr>
          <a:xfrm>
            <a:off x="731520" y="1600200"/>
            <a:ext cx="7406640" cy="23774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spcAft>
                <a:spcPts val="100"/>
              </a:spcAft>
              <a:buNone/>
            </a:pPr>
            <a:r>
              <a:rPr lang="es-ES" sz="4000" b="1" i="0" dirty="0">
                <a:solidFill>
                  <a:srgbClr val="FFFFFF"/>
                </a:solidFill>
                <a:latin typeface="Calibri"/>
                <a:cs typeface="Calibri"/>
              </a:rPr>
              <a:t>Programa de Transformacion</a:t>
            </a:r>
          </a:p>
          <a:p>
            <a:pPr marL="0" indent="0" lvl="0" algn="l">
              <a:buNone/>
            </a:pPr>
            <a:r>
              <a:rPr lang="es-ES" sz="4000" b="1" i="0" dirty="0">
                <a:solidFill>
                  <a:srgbClr val="E8711E"/>
                </a:solidFill>
                <a:latin typeface="Calibri"/>
                <a:cs typeface="Calibri"/>
              </a:rPr>
              <a:t>Omnicanal y Ultima Milla</a:t>
            </a:r>
          </a:p>
        </p:txBody>
      </p:sp>
      <p:sp>
        <p:nvSpPr>
          <p:cNvPr id="9" name="tb"/>
          <p:cNvSpPr txBox="1"/>
          <p:nvPr/>
        </p:nvSpPr>
        <p:spPr>
          <a:xfrm>
            <a:off x="777240" y="3703320"/>
            <a:ext cx="6766560" cy="5486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300" b="1" i="0" spc="200" dirty="0">
                <a:solidFill>
                  <a:srgbClr val="E8711E"/>
                </a:solidFill>
                <a:latin typeface="Calibri"/>
                <a:cs typeface="Calibri"/>
              </a:rPr>
              <a:t>OBJETIVO</a:t>
            </a:r>
          </a:p>
        </p:txBody>
      </p:sp>
      <p:sp>
        <p:nvSpPr>
          <p:cNvPr id="10" name="tb"/>
          <p:cNvSpPr txBox="1"/>
          <p:nvPr/>
        </p:nvSpPr>
        <p:spPr>
          <a:xfrm>
            <a:off x="777240" y="4069080"/>
            <a:ext cx="69037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500" b="0" i="0" dirty="0">
                <a:solidFill>
                  <a:srgbClr val="D7E2EC"/>
                </a:solidFill>
                <a:latin typeface="Calibri"/>
                <a:cs typeface="Calibri"/>
              </a:rPr>
              <a:t>Mejorar la experiencia de compra y entrega de nuestros socios mediante:</a:t>
            </a:r>
          </a:p>
        </p:txBody>
      </p:sp>
      <p:sp>
        <p:nvSpPr>
          <p:cNvPr id="11" name="tb"/>
          <p:cNvSpPr txBox="1"/>
          <p:nvPr/>
        </p:nvSpPr>
        <p:spPr>
          <a:xfrm>
            <a:off x="777240" y="4709160"/>
            <a:ext cx="6949440" cy="18288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Direcciones de clientes confiables.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Automatizacion de incidencias de distribucion.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Entregas mas rapidas.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Mayor disponibilidad de inventario.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Integracion omnicanal de tiendas y centros de distribucion.</a:t>
            </a:r>
          </a:p>
        </p:txBody>
      </p:sp>
      <p:sp>
        <p:nvSpPr>
          <p:cNvPr id="12" name="sp"/>
          <p:cNvSpPr/>
          <p:nvPr/>
        </p:nvSpPr>
        <p:spPr>
          <a:xfrm>
            <a:off x="8229600" y="18288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DATOS</a:t>
            </a:r>
          </a:p>
        </p:txBody>
      </p:sp>
      <p:sp>
        <p:nvSpPr>
          <p:cNvPr id="13" name="sp"/>
          <p:cNvSpPr/>
          <p:nvPr/>
        </p:nvSpPr>
        <p:spPr>
          <a:xfrm>
            <a:off x="8229600" y="27432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LOGISTICA</a:t>
            </a:r>
          </a:p>
        </p:txBody>
      </p:sp>
      <p:sp>
        <p:nvSpPr>
          <p:cNvPr id="14" name="sp"/>
          <p:cNvSpPr/>
          <p:nvPr/>
        </p:nvSpPr>
        <p:spPr>
          <a:xfrm>
            <a:off x="8229600" y="36576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IA EN RUTA</a:t>
            </a:r>
          </a:p>
        </p:txBody>
      </p:sp>
      <p:sp>
        <p:nvSpPr>
          <p:cNvPr id="15" name="sp"/>
          <p:cNvSpPr/>
          <p:nvPr/>
        </p:nvSpPr>
        <p:spPr>
          <a:xfrm>
            <a:off x="8229600" y="45720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OMNICANAL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PRINCIPALES DESAFIOS IDENTIFICADOS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Situacion Actual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card"/>
          <p:cNvSpPr/>
          <p:nvPr/>
        </p:nvSpPr>
        <p:spPr>
          <a:xfrm>
            <a:off x="566928" y="1691640"/>
            <a:ext cx="5413248" cy="22128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ab"/>
          <p:cNvSpPr/>
          <p:nvPr/>
        </p:nvSpPr>
        <p:spPr>
          <a:xfrm>
            <a:off x="566928" y="1691640"/>
            <a:ext cx="109728" cy="2212848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b"/>
          <p:cNvSpPr txBox="1"/>
          <p:nvPr/>
        </p:nvSpPr>
        <p:spPr>
          <a:xfrm>
            <a:off x="859536" y="1856232"/>
            <a:ext cx="4956048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750" b="1" i="0" dirty="0">
                <a:solidFill>
                  <a:srgbClr val="123A5E"/>
                </a:solidFill>
                <a:latin typeface="Calibri"/>
                <a:cs typeface="Calibri"/>
              </a:rPr>
              <a:t>Datos</a:t>
            </a:r>
          </a:p>
        </p:txBody>
      </p:sp>
      <p:sp>
        <p:nvSpPr>
          <p:cNvPr id="12" name="tb"/>
          <p:cNvSpPr txBox="1"/>
          <p:nvPr/>
        </p:nvSpPr>
        <p:spPr>
          <a:xfrm>
            <a:off x="841248" y="2404872"/>
            <a:ext cx="4910328" cy="1389888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6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300" b="0" i="0" dirty="0">
                <a:solidFill>
                  <a:srgbClr val="333333"/>
                </a:solidFill>
                <a:latin typeface="Calibri"/>
                <a:cs typeface="Calibri"/>
              </a:rPr>
              <a:t>Mas de 35.000 clientes con distintos niveles de calidad en sus direcciones.</a:t>
            </a:r>
          </a:p>
          <a:p>
            <a:pPr marL="228600" indent="-228600" lvl="0" algn="l">
              <a:lnSpc>
                <a:spcPct val="100000"/>
              </a:lnSpc>
              <a:spcAft>
                <a:spcPts val="26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300" b="0" i="0" dirty="0">
                <a:solidFill>
                  <a:srgbClr val="333333"/>
                </a:solidFill>
                <a:latin typeface="Calibri"/>
                <a:cs typeface="Calibri"/>
              </a:rPr>
              <a:t>Multiples canales de captura sin estandar unico.</a:t>
            </a:r>
          </a:p>
        </p:txBody>
      </p:sp>
      <p:sp>
        <p:nvSpPr>
          <p:cNvPr id="13" name="card"/>
          <p:cNvSpPr/>
          <p:nvPr/>
        </p:nvSpPr>
        <p:spPr>
          <a:xfrm>
            <a:off x="6217920" y="1691640"/>
            <a:ext cx="5413248" cy="22128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ab"/>
          <p:cNvSpPr/>
          <p:nvPr/>
        </p:nvSpPr>
        <p:spPr>
          <a:xfrm>
            <a:off x="6217920" y="1691640"/>
            <a:ext cx="109728" cy="2212848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" name="tb"/>
          <p:cNvSpPr txBox="1"/>
          <p:nvPr/>
        </p:nvSpPr>
        <p:spPr>
          <a:xfrm>
            <a:off x="6510528" y="1856232"/>
            <a:ext cx="4956048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750" b="1" i="0" dirty="0">
                <a:solidFill>
                  <a:srgbClr val="E8711E"/>
                </a:solidFill>
                <a:latin typeface="Calibri"/>
                <a:cs typeface="Calibri"/>
              </a:rPr>
              <a:t>Distribucion</a:t>
            </a:r>
          </a:p>
        </p:txBody>
      </p:sp>
      <p:sp>
        <p:nvSpPr>
          <p:cNvPr id="16" name="tb"/>
          <p:cNvSpPr txBox="1"/>
          <p:nvPr/>
        </p:nvSpPr>
        <p:spPr>
          <a:xfrm>
            <a:off x="6492240" y="2404872"/>
            <a:ext cx="4910328" cy="1389888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300" b="0" i="0" dirty="0">
                <a:solidFill>
                  <a:srgbClr val="333333"/>
                </a:solidFill>
                <a:latin typeface="Calibri"/>
                <a:cs typeface="Calibri"/>
              </a:rPr>
              <a:t>Entregas fallidas por errores de direccion.</a:t>
            </a:r>
          </a:p>
          <a:p>
            <a:pPr marL="228600" indent="-228600" lvl="0" algn="l">
              <a:lnSpc>
                <a:spcPct val="100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300" b="0" i="0" dirty="0">
                <a:solidFill>
                  <a:srgbClr val="333333"/>
                </a:solidFill>
                <a:latin typeface="Calibri"/>
                <a:cs typeface="Calibri"/>
              </a:rPr>
              <a:t>Reprocesos logisticos.</a:t>
            </a:r>
          </a:p>
          <a:p>
            <a:pPr marL="228600" indent="-228600" lvl="0" algn="l">
              <a:lnSpc>
                <a:spcPct val="100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300" b="0" i="0" dirty="0">
                <a:solidFill>
                  <a:srgbClr val="333333"/>
                </a:solidFill>
                <a:latin typeface="Calibri"/>
                <a:cs typeface="Calibri"/>
              </a:rPr>
              <a:t>Carga retornada al CD.</a:t>
            </a:r>
          </a:p>
        </p:txBody>
      </p:sp>
      <p:sp>
        <p:nvSpPr>
          <p:cNvPr id="17" name="card"/>
          <p:cNvSpPr/>
          <p:nvPr/>
        </p:nvSpPr>
        <p:spPr>
          <a:xfrm>
            <a:off x="566928" y="4123944"/>
            <a:ext cx="5413248" cy="22128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ab"/>
          <p:cNvSpPr/>
          <p:nvPr/>
        </p:nvSpPr>
        <p:spPr>
          <a:xfrm>
            <a:off x="566928" y="4123944"/>
            <a:ext cx="109728" cy="2212848"/>
          </a:xfrm>
          <a:prstGeom prst="rect">
            <a:avLst/>
          </a:prstGeom>
          <a:solidFill>
            <a:srgbClr val="1C5A8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"/>
          <p:cNvSpPr txBox="1"/>
          <p:nvPr/>
        </p:nvSpPr>
        <p:spPr>
          <a:xfrm>
            <a:off x="859536" y="4288536"/>
            <a:ext cx="4956048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750" b="1" i="0" dirty="0">
                <a:solidFill>
                  <a:srgbClr val="1C5A8C"/>
                </a:solidFill>
                <a:latin typeface="Calibri"/>
                <a:cs typeface="Calibri"/>
              </a:rPr>
              <a:t>Experiencia Cliente</a:t>
            </a:r>
          </a:p>
        </p:txBody>
      </p:sp>
      <p:sp>
        <p:nvSpPr>
          <p:cNvPr id="20" name="tb"/>
          <p:cNvSpPr txBox="1"/>
          <p:nvPr/>
        </p:nvSpPr>
        <p:spPr>
          <a:xfrm>
            <a:off x="841248" y="4837176"/>
            <a:ext cx="4910328" cy="1389888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60"/>
              </a:spcAft>
              <a:buClr>
                <a:srgbClr val="1C5A8C"/>
              </a:buClr>
              <a:buFont typeface="Arial"/>
              <a:buChar char="•"/>
            </a:pPr>
            <a:r>
              <a:rPr lang="es-ES" sz="1300" b="0" i="0" dirty="0">
                <a:solidFill>
                  <a:srgbClr val="333333"/>
                </a:solidFill>
                <a:latin typeface="Calibri"/>
                <a:cs typeface="Calibri"/>
              </a:rPr>
              <a:t>Retrasos en entregas.</a:t>
            </a:r>
          </a:p>
          <a:p>
            <a:pPr marL="228600" indent="-228600" lvl="0" algn="l">
              <a:lnSpc>
                <a:spcPct val="100000"/>
              </a:lnSpc>
              <a:spcAft>
                <a:spcPts val="260"/>
              </a:spcAft>
              <a:buClr>
                <a:srgbClr val="1C5A8C"/>
              </a:buClr>
              <a:buFont typeface="Arial"/>
              <a:buChar char="•"/>
            </a:pPr>
            <a:r>
              <a:rPr lang="es-ES" sz="1300" b="0" i="0" dirty="0">
                <a:solidFill>
                  <a:srgbClr val="333333"/>
                </a:solidFill>
                <a:latin typeface="Calibri"/>
                <a:cs typeface="Calibri"/>
              </a:rPr>
              <a:t>Necesidad de aumentar entregas same day en RM.</a:t>
            </a:r>
          </a:p>
        </p:txBody>
      </p:sp>
      <p:sp>
        <p:nvSpPr>
          <p:cNvPr id="21" name="card"/>
          <p:cNvSpPr/>
          <p:nvPr/>
        </p:nvSpPr>
        <p:spPr>
          <a:xfrm>
            <a:off x="6217920" y="4123944"/>
            <a:ext cx="5413248" cy="22128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tab"/>
          <p:cNvSpPr/>
          <p:nvPr/>
        </p:nvSpPr>
        <p:spPr>
          <a:xfrm>
            <a:off x="6217920" y="4123944"/>
            <a:ext cx="109728" cy="2212848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3" name="tb"/>
          <p:cNvSpPr txBox="1"/>
          <p:nvPr/>
        </p:nvSpPr>
        <p:spPr>
          <a:xfrm>
            <a:off x="6510528" y="4288536"/>
            <a:ext cx="4956048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750" b="1" i="0" dirty="0">
                <a:solidFill>
                  <a:srgbClr val="123A5E"/>
                </a:solidFill>
                <a:latin typeface="Calibri"/>
                <a:cs typeface="Calibri"/>
              </a:rPr>
              <a:t>Retail</a:t>
            </a:r>
          </a:p>
        </p:txBody>
      </p:sp>
      <p:sp>
        <p:nvSpPr>
          <p:cNvPr id="24" name="tb"/>
          <p:cNvSpPr txBox="1"/>
          <p:nvPr/>
        </p:nvSpPr>
        <p:spPr>
          <a:xfrm>
            <a:off x="6492240" y="4837176"/>
            <a:ext cx="4910328" cy="1389888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6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300" b="0" i="0" dirty="0">
                <a:solidFill>
                  <a:srgbClr val="333333"/>
                </a:solidFill>
                <a:latin typeface="Calibri"/>
                <a:cs typeface="Calibri"/>
              </a:rPr>
              <a:t>Venta limitada al stock disponible en cada tienda.</a:t>
            </a:r>
          </a:p>
          <a:p>
            <a:pPr marL="228600" indent="-228600" lvl="0" algn="l">
              <a:lnSpc>
                <a:spcPct val="100000"/>
              </a:lnSpc>
              <a:spcAft>
                <a:spcPts val="26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300" b="0" i="0" dirty="0">
                <a:solidFill>
                  <a:srgbClr val="333333"/>
                </a:solidFill>
                <a:latin typeface="Calibri"/>
                <a:cs typeface="Calibri"/>
              </a:rPr>
              <a:t>Falta de visibilidad del inventario de toda la red.</a:t>
            </a:r>
          </a:p>
        </p:txBody>
      </p:sp>
      <p:sp>
        <p:nvSpPr>
          <p:cNvPr id="25" name="tb"/>
          <p:cNvSpPr txBox="1"/>
          <p:nvPr/>
        </p:nvSpPr>
        <p:spPr>
          <a:xfrm>
            <a:off x="548640" y="6400800"/>
            <a:ext cx="100584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0" i="0" dirty="0">
                <a:solidFill>
                  <a:srgbClr val="6B6B6B"/>
                </a:solidFill>
                <a:latin typeface="Calibri"/>
                <a:cs typeface="Calibri"/>
              </a:rPr>
              <a:t>CAV  |  Programa de Transformacion Omnicanal y Ultima Milla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CUATRO PILARES DE TRABAJO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Los 4 Frentes del Programa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pillar"/>
          <p:cNvSpPr/>
          <p:nvPr/>
        </p:nvSpPr>
        <p:spPr>
          <a:xfrm>
            <a:off x="566928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phead"/>
          <p:cNvSpPr/>
          <p:nvPr/>
        </p:nvSpPr>
        <p:spPr>
          <a:xfrm>
            <a:off x="566928" y="1783080"/>
            <a:ext cx="2679192" cy="105156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b"/>
          <p:cNvSpPr txBox="1"/>
          <p:nvPr/>
        </p:nvSpPr>
        <p:spPr>
          <a:xfrm>
            <a:off x="566928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01</a:t>
            </a:r>
          </a:p>
        </p:txBody>
      </p:sp>
      <p:sp>
        <p:nvSpPr>
          <p:cNvPr id="12" name="tb"/>
          <p:cNvSpPr txBox="1"/>
          <p:nvPr/>
        </p:nvSpPr>
        <p:spPr>
          <a:xfrm>
            <a:off x="676656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Normalizacion Historica de Direcciones</a:t>
            </a:r>
          </a:p>
        </p:txBody>
      </p:sp>
      <p:sp>
        <p:nvSpPr>
          <p:cNvPr id="13" name="tb"/>
          <p:cNvSpPr txBox="1"/>
          <p:nvPr/>
        </p:nvSpPr>
        <p:spPr>
          <a:xfrm>
            <a:off x="713232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Corregir la base actual de clientes.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Meta: normalizar 35.000 registros.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Duracion: 1 mes.</a:t>
            </a:r>
          </a:p>
        </p:txBody>
      </p:sp>
      <p:sp>
        <p:nvSpPr>
          <p:cNvPr id="14" name="pillar"/>
          <p:cNvSpPr/>
          <p:nvPr/>
        </p:nvSpPr>
        <p:spPr>
          <a:xfrm>
            <a:off x="3364992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phead"/>
          <p:cNvSpPr/>
          <p:nvPr/>
        </p:nvSpPr>
        <p:spPr>
          <a:xfrm>
            <a:off x="3364992" y="1783080"/>
            <a:ext cx="2679192" cy="1051560"/>
          </a:xfrm>
          <a:prstGeom prst="round2SameRect">
            <a:avLst/>
          </a:prstGeom>
          <a:solidFill>
            <a:srgbClr val="1C5A8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" name="tb"/>
          <p:cNvSpPr txBox="1"/>
          <p:nvPr/>
        </p:nvSpPr>
        <p:spPr>
          <a:xfrm>
            <a:off x="3364992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02</a:t>
            </a:r>
          </a:p>
        </p:txBody>
      </p:sp>
      <p:sp>
        <p:nvSpPr>
          <p:cNvPr id="17" name="tb"/>
          <p:cNvSpPr txBox="1"/>
          <p:nvPr/>
        </p:nvSpPr>
        <p:spPr>
          <a:xfrm>
            <a:off x="3474720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Captura Correcta desde el Origen</a:t>
            </a:r>
          </a:p>
        </p:txBody>
      </p:sp>
      <p:sp>
        <p:nvSpPr>
          <p:cNvPr id="18" name="tb"/>
          <p:cNvSpPr txBox="1"/>
          <p:nvPr/>
        </p:nvSpPr>
        <p:spPr>
          <a:xfrm>
            <a:off x="3511296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C5A8C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Formularios estandarizados en Web, App, Carrito, ERP, QR ejecutivos, Eventos y Tiendas.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C5A8C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Resultado: evitar que el problema vuelva a generarse.</a:t>
            </a:r>
          </a:p>
        </p:txBody>
      </p:sp>
      <p:sp>
        <p:nvSpPr>
          <p:cNvPr id="19" name="pillar"/>
          <p:cNvSpPr/>
          <p:nvPr/>
        </p:nvSpPr>
        <p:spPr>
          <a:xfrm>
            <a:off x="6163056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phead"/>
          <p:cNvSpPr/>
          <p:nvPr/>
        </p:nvSpPr>
        <p:spPr>
          <a:xfrm>
            <a:off x="6163056" y="1783080"/>
            <a:ext cx="2679192" cy="1051560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1" name="tb"/>
          <p:cNvSpPr txBox="1"/>
          <p:nvPr/>
        </p:nvSpPr>
        <p:spPr>
          <a:xfrm>
            <a:off x="6163056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03</a:t>
            </a:r>
          </a:p>
        </p:txBody>
      </p:sp>
      <p:sp>
        <p:nvSpPr>
          <p:cNvPr id="22" name="tb"/>
          <p:cNvSpPr txBox="1"/>
          <p:nvPr/>
        </p:nvSpPr>
        <p:spPr>
          <a:xfrm>
            <a:off x="6272784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IA para Gestion de Incidencias en Ruta</a:t>
            </a:r>
          </a:p>
        </p:txBody>
      </p:sp>
      <p:sp>
        <p:nvSpPr>
          <p:cNvPr id="23" name="tb"/>
          <p:cNvSpPr txBox="1"/>
          <p:nvPr/>
        </p:nvSpPr>
        <p:spPr>
          <a:xfrm>
            <a:off x="6309360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Agente IA SimpliRoute: contacto automatico, correccion de direcciones, reagendamiento y actualizacion en tiempo real.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Objetivo: reducir entregas fallidas y retornos al CD; mejorar experiencia.</a:t>
            </a:r>
          </a:p>
        </p:txBody>
      </p:sp>
      <p:sp>
        <p:nvSpPr>
          <p:cNvPr id="24" name="pillar"/>
          <p:cNvSpPr/>
          <p:nvPr/>
        </p:nvSpPr>
        <p:spPr>
          <a:xfrm>
            <a:off x="8961120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phead"/>
          <p:cNvSpPr/>
          <p:nvPr/>
        </p:nvSpPr>
        <p:spPr>
          <a:xfrm>
            <a:off x="8961120" y="1783080"/>
            <a:ext cx="2679192" cy="105156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6" name="tb"/>
          <p:cNvSpPr txBox="1"/>
          <p:nvPr/>
        </p:nvSpPr>
        <p:spPr>
          <a:xfrm>
            <a:off x="8961120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04</a:t>
            </a:r>
          </a:p>
        </p:txBody>
      </p:sp>
      <p:sp>
        <p:nvSpPr>
          <p:cNvPr id="27" name="tb"/>
          <p:cNvSpPr txBox="1"/>
          <p:nvPr/>
        </p:nvSpPr>
        <p:spPr>
          <a:xfrm>
            <a:off x="9070848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Omnicanalidad Retail</a:t>
            </a:r>
          </a:p>
        </p:txBody>
      </p:sp>
      <p:sp>
        <p:nvSpPr>
          <p:cNvPr id="28" name="tb"/>
          <p:cNvSpPr txBox="1"/>
          <p:nvPr/>
        </p:nvSpPr>
        <p:spPr>
          <a:xfrm>
            <a:off x="9107424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Tiendas venden inventario de toda la red.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Modelo: Cliente &gt; Tienda &gt; Cualquier Bodega &gt; Despacho.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Beneficios: mayor disponibilidad, menos ventas perdidas.</a:t>
            </a:r>
          </a:p>
        </p:txBody>
      </p:sp>
      <p:sp>
        <p:nvSpPr>
          <p:cNvPr id="29" name="tb"/>
          <p:cNvSpPr txBox="1"/>
          <p:nvPr/>
        </p:nvSpPr>
        <p:spPr>
          <a:xfrm>
            <a:off x="548640" y="6400800"/>
            <a:ext cx="100584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0" i="0" dirty="0">
                <a:solidFill>
                  <a:srgbClr val="6B6B6B"/>
                </a:solidFill>
                <a:latin typeface="Calibri"/>
                <a:cs typeface="Calibri"/>
              </a:rPr>
              <a:t>CAV  |  Programa de Transformacion Omnicanal y Ultima Milla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AGENTE IA DE GESTION DE ENTREGAS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Caso de Negocio  ·  IA SimpliRoute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p"/>
          <p:cNvSpPr/>
          <p:nvPr/>
        </p:nvSpPr>
        <p:spPr>
          <a:xfrm>
            <a:off x="566928" y="1737360"/>
            <a:ext cx="350215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566928" y="1737360"/>
            <a:ext cx="109728" cy="16916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b"/>
          <p:cNvSpPr txBox="1"/>
          <p:nvPr/>
        </p:nvSpPr>
        <p:spPr>
          <a:xfrm>
            <a:off x="841248" y="1901952"/>
            <a:ext cx="304495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00" b="1" i="0" spc="120" dirty="0">
                <a:solidFill>
                  <a:srgbClr val="6B6B6B"/>
                </a:solidFill>
                <a:latin typeface="Calibri"/>
                <a:cs typeface="Calibri"/>
              </a:rPr>
              <a:t>INVERSION</a:t>
            </a:r>
          </a:p>
        </p:txBody>
      </p:sp>
      <p:sp>
        <p:nvSpPr>
          <p:cNvPr id="12" name="tb"/>
          <p:cNvSpPr txBox="1"/>
          <p:nvPr/>
        </p:nvSpPr>
        <p:spPr>
          <a:xfrm>
            <a:off x="822960" y="2267712"/>
            <a:ext cx="3044952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3200" b="1" i="0" dirty="0">
                <a:solidFill>
                  <a:srgbClr val="123A5E"/>
                </a:solidFill>
                <a:latin typeface="Calibri"/>
                <a:cs typeface="Calibri"/>
              </a:rPr>
              <a:t>USD 1.500</a:t>
            </a:r>
          </a:p>
        </p:txBody>
      </p:sp>
      <p:sp>
        <p:nvSpPr>
          <p:cNvPr id="13" name="tb"/>
          <p:cNvSpPr txBox="1"/>
          <p:nvPr/>
        </p:nvSpPr>
        <p:spPr>
          <a:xfrm>
            <a:off x="859536" y="2944368"/>
            <a:ext cx="3044952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/ mes</a:t>
            </a:r>
          </a:p>
        </p:txBody>
      </p:sp>
      <p:sp>
        <p:nvSpPr>
          <p:cNvPr id="14" name="sp"/>
          <p:cNvSpPr/>
          <p:nvPr/>
        </p:nvSpPr>
        <p:spPr>
          <a:xfrm>
            <a:off x="4251960" y="1737360"/>
            <a:ext cx="350215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p"/>
          <p:cNvSpPr/>
          <p:nvPr/>
        </p:nvSpPr>
        <p:spPr>
          <a:xfrm>
            <a:off x="4251960" y="1737360"/>
            <a:ext cx="109728" cy="16916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" name="tb"/>
          <p:cNvSpPr txBox="1"/>
          <p:nvPr/>
        </p:nvSpPr>
        <p:spPr>
          <a:xfrm>
            <a:off x="4526280" y="1901952"/>
            <a:ext cx="304495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00" b="1" i="0" spc="120" dirty="0">
                <a:solidFill>
                  <a:srgbClr val="6B6B6B"/>
                </a:solidFill>
                <a:latin typeface="Calibri"/>
                <a:cs typeface="Calibri"/>
              </a:rPr>
              <a:t>BENEFICIO ESTIMADO</a:t>
            </a:r>
          </a:p>
        </p:txBody>
      </p:sp>
      <p:sp>
        <p:nvSpPr>
          <p:cNvPr id="17" name="tb"/>
          <p:cNvSpPr txBox="1"/>
          <p:nvPr/>
        </p:nvSpPr>
        <p:spPr>
          <a:xfrm>
            <a:off x="4507992" y="2267712"/>
            <a:ext cx="3044952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3200" b="1" i="0" dirty="0">
                <a:solidFill>
                  <a:srgbClr val="123A5E"/>
                </a:solidFill>
                <a:latin typeface="Calibri"/>
                <a:cs typeface="Calibri"/>
              </a:rPr>
              <a:t>USD 3.500</a:t>
            </a:r>
          </a:p>
        </p:txBody>
      </p:sp>
      <p:sp>
        <p:nvSpPr>
          <p:cNvPr id="18" name="tb"/>
          <p:cNvSpPr txBox="1"/>
          <p:nvPr/>
        </p:nvSpPr>
        <p:spPr>
          <a:xfrm>
            <a:off x="4544568" y="2944368"/>
            <a:ext cx="3044952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/ mes en ahorro</a:t>
            </a:r>
          </a:p>
        </p:txBody>
      </p:sp>
      <p:sp>
        <p:nvSpPr>
          <p:cNvPr id="19" name="sp"/>
          <p:cNvSpPr/>
          <p:nvPr/>
        </p:nvSpPr>
        <p:spPr>
          <a:xfrm>
            <a:off x="7936992" y="1737360"/>
            <a:ext cx="350215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p"/>
          <p:cNvSpPr/>
          <p:nvPr/>
        </p:nvSpPr>
        <p:spPr>
          <a:xfrm>
            <a:off x="7936992" y="1737360"/>
            <a:ext cx="109728" cy="169164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1" name="tb"/>
          <p:cNvSpPr txBox="1"/>
          <p:nvPr/>
        </p:nvSpPr>
        <p:spPr>
          <a:xfrm>
            <a:off x="8211312" y="1901952"/>
            <a:ext cx="304495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00" b="1" i="0" spc="120" dirty="0">
                <a:solidFill>
                  <a:srgbClr val="6B6B6B"/>
                </a:solidFill>
                <a:latin typeface="Calibri"/>
                <a:cs typeface="Calibri"/>
              </a:rPr>
              <a:t>BENEFICIO NETO</a:t>
            </a:r>
          </a:p>
        </p:txBody>
      </p:sp>
      <p:sp>
        <p:nvSpPr>
          <p:cNvPr id="22" name="tb"/>
          <p:cNvSpPr txBox="1"/>
          <p:nvPr/>
        </p:nvSpPr>
        <p:spPr>
          <a:xfrm>
            <a:off x="8193024" y="2267712"/>
            <a:ext cx="3044952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3200" b="1" i="0" dirty="0">
                <a:solidFill>
                  <a:srgbClr val="E8711E"/>
                </a:solidFill>
                <a:latin typeface="Calibri"/>
                <a:cs typeface="Calibri"/>
              </a:rPr>
              <a:t>USD 2.000</a:t>
            </a:r>
          </a:p>
        </p:txBody>
      </p:sp>
      <p:sp>
        <p:nvSpPr>
          <p:cNvPr id="23" name="tb"/>
          <p:cNvSpPr txBox="1"/>
          <p:nvPr/>
        </p:nvSpPr>
        <p:spPr>
          <a:xfrm>
            <a:off x="8229600" y="2944368"/>
            <a:ext cx="3044952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/ mes  ·  ROI ~133%</a:t>
            </a:r>
          </a:p>
        </p:txBody>
      </p:sp>
      <p:sp>
        <p:nvSpPr>
          <p:cNvPr id="24" name="sp"/>
          <p:cNvSpPr/>
          <p:nvPr/>
        </p:nvSpPr>
        <p:spPr>
          <a:xfrm>
            <a:off x="566928" y="3703320"/>
            <a:ext cx="5486400" cy="2240280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DCDCDC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5" name="tb"/>
          <p:cNvSpPr txBox="1"/>
          <p:nvPr/>
        </p:nvSpPr>
        <p:spPr>
          <a:xfrm>
            <a:off x="795528" y="3813048"/>
            <a:ext cx="5029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50" b="1" i="0" dirty="0">
                <a:solidFill>
                  <a:srgbClr val="123A5E"/>
                </a:solidFill>
                <a:latin typeface="Calibri"/>
                <a:cs typeface="Calibri"/>
              </a:rPr>
              <a:t>Comparativo mensual (USD)</a:t>
            </a:r>
          </a:p>
        </p:txBody>
      </p:sp>
      <p:sp>
        <p:nvSpPr>
          <p:cNvPr id="26" name="sp"/>
          <p:cNvSpPr/>
          <p:nvPr/>
        </p:nvSpPr>
        <p:spPr>
          <a:xfrm>
            <a:off x="886968" y="5440680"/>
            <a:ext cx="4846320" cy="16459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7" name="sp"/>
          <p:cNvSpPr/>
          <p:nvPr/>
        </p:nvSpPr>
        <p:spPr>
          <a:xfrm>
            <a:off x="1069848" y="4911635"/>
            <a:ext cx="1051560" cy="529045"/>
          </a:xfrm>
          <a:prstGeom prst="round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8" name="tb"/>
          <p:cNvSpPr txBox="1"/>
          <p:nvPr/>
        </p:nvSpPr>
        <p:spPr>
          <a:xfrm>
            <a:off x="978408" y="4527587"/>
            <a:ext cx="123444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200" b="1" i="0" dirty="0">
                <a:solidFill>
                  <a:srgbClr val="333333"/>
                </a:solidFill>
                <a:latin typeface="Calibri"/>
                <a:cs typeface="Calibri"/>
              </a:rPr>
              <a:t>1.500</a:t>
            </a:r>
          </a:p>
        </p:txBody>
      </p:sp>
      <p:sp>
        <p:nvSpPr>
          <p:cNvPr id="29" name="tb"/>
          <p:cNvSpPr txBox="1"/>
          <p:nvPr/>
        </p:nvSpPr>
        <p:spPr>
          <a:xfrm>
            <a:off x="932688" y="5495544"/>
            <a:ext cx="132588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Costo</a:t>
            </a:r>
          </a:p>
        </p:txBody>
      </p:sp>
      <p:sp>
        <p:nvSpPr>
          <p:cNvPr id="30" name="sp"/>
          <p:cNvSpPr/>
          <p:nvPr/>
        </p:nvSpPr>
        <p:spPr>
          <a:xfrm>
            <a:off x="2688336" y="4206240"/>
            <a:ext cx="1051560" cy="1234440"/>
          </a:xfrm>
          <a:prstGeom prst="round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1" name="tb"/>
          <p:cNvSpPr txBox="1"/>
          <p:nvPr/>
        </p:nvSpPr>
        <p:spPr>
          <a:xfrm>
            <a:off x="2596896" y="3822192"/>
            <a:ext cx="123444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200" b="1" i="0" dirty="0">
                <a:solidFill>
                  <a:srgbClr val="333333"/>
                </a:solidFill>
                <a:latin typeface="Calibri"/>
                <a:cs typeface="Calibri"/>
              </a:rPr>
              <a:t>3.500</a:t>
            </a:r>
          </a:p>
        </p:txBody>
      </p:sp>
      <p:sp>
        <p:nvSpPr>
          <p:cNvPr id="32" name="tb"/>
          <p:cNvSpPr txBox="1"/>
          <p:nvPr/>
        </p:nvSpPr>
        <p:spPr>
          <a:xfrm>
            <a:off x="2551176" y="5495544"/>
            <a:ext cx="132588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Ahorro</a:t>
            </a:r>
          </a:p>
        </p:txBody>
      </p:sp>
      <p:sp>
        <p:nvSpPr>
          <p:cNvPr id="33" name="sp"/>
          <p:cNvSpPr/>
          <p:nvPr/>
        </p:nvSpPr>
        <p:spPr>
          <a:xfrm>
            <a:off x="4306824" y="4735286"/>
            <a:ext cx="1051560" cy="705394"/>
          </a:xfrm>
          <a:prstGeom prst="round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4" name="tb"/>
          <p:cNvSpPr txBox="1"/>
          <p:nvPr/>
        </p:nvSpPr>
        <p:spPr>
          <a:xfrm>
            <a:off x="4215384" y="4351238"/>
            <a:ext cx="123444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200" b="1" i="0" dirty="0">
                <a:solidFill>
                  <a:srgbClr val="333333"/>
                </a:solidFill>
                <a:latin typeface="Calibri"/>
                <a:cs typeface="Calibri"/>
              </a:rPr>
              <a:t>2.000</a:t>
            </a:r>
          </a:p>
        </p:txBody>
      </p:sp>
      <p:sp>
        <p:nvSpPr>
          <p:cNvPr id="35" name="tb"/>
          <p:cNvSpPr txBox="1"/>
          <p:nvPr/>
        </p:nvSpPr>
        <p:spPr>
          <a:xfrm>
            <a:off x="4169664" y="5495544"/>
            <a:ext cx="132588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Beneficio Neto</a:t>
            </a:r>
          </a:p>
        </p:txBody>
      </p:sp>
      <p:sp>
        <p:nvSpPr>
          <p:cNvPr id="36" name="sp"/>
          <p:cNvSpPr/>
          <p:nvPr/>
        </p:nvSpPr>
        <p:spPr>
          <a:xfrm>
            <a:off x="6355080" y="3703320"/>
            <a:ext cx="5285232" cy="2240280"/>
          </a:xfrm>
          <a:prstGeom prst="roundRect">
            <a:avLst/>
          </a:prstGeom>
          <a:solidFill>
            <a:srgbClr val="123A5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tb"/>
          <p:cNvSpPr txBox="1"/>
          <p:nvPr/>
        </p:nvSpPr>
        <p:spPr>
          <a:xfrm>
            <a:off x="6647688" y="3867912"/>
            <a:ext cx="482803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00" b="1" i="0" spc="160" dirty="0">
                <a:solidFill>
                  <a:srgbClr val="E8711E"/>
                </a:solidFill>
                <a:latin typeface="Calibri"/>
                <a:cs typeface="Calibri"/>
              </a:rPr>
              <a:t>BENEFICIOS ADICIONALES</a:t>
            </a:r>
          </a:p>
        </p:txBody>
      </p:sp>
      <p:sp>
        <p:nvSpPr>
          <p:cNvPr id="38" name="tb"/>
          <p:cNvSpPr txBox="1"/>
          <p:nvPr/>
        </p:nvSpPr>
        <p:spPr>
          <a:xfrm>
            <a:off x="6629400" y="4306824"/>
            <a:ext cx="4782312" cy="1508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Menor carga operativa.</a:t>
            </a:r>
          </a:p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Menos devoluciones.</a:t>
            </a:r>
          </a:p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Mejor NPS.</a:t>
            </a:r>
          </a:p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Mayor satisfaccion de clientes.</a:t>
            </a:r>
          </a:p>
        </p:txBody>
      </p:sp>
      <p:sp>
        <p:nvSpPr>
          <p:cNvPr id="39" name="tb"/>
          <p:cNvSpPr txBox="1"/>
          <p:nvPr/>
        </p:nvSpPr>
        <p:spPr>
          <a:xfrm>
            <a:off x="548640" y="6400800"/>
            <a:ext cx="100584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0" i="0" dirty="0">
                <a:solidFill>
                  <a:srgbClr val="6B6B6B"/>
                </a:solidFill>
                <a:latin typeface="Calibri"/>
                <a:cs typeface="Calibri"/>
              </a:rPr>
              <a:t>CAV  |  Programa de Transformacion Omnicanal y Ultima Milla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HOJA DE RUTA DEL PROGRAMA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Roadmap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p"/>
          <p:cNvSpPr/>
          <p:nvPr/>
        </p:nvSpPr>
        <p:spPr>
          <a:xfrm>
            <a:off x="822960" y="3429000"/>
            <a:ext cx="10515600" cy="4572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1584960" y="3218688"/>
            <a:ext cx="457200" cy="457200"/>
          </a:xfrm>
          <a:prstGeom prst="ellipse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11" name="sp"/>
          <p:cNvSpPr/>
          <p:nvPr/>
        </p:nvSpPr>
        <p:spPr>
          <a:xfrm>
            <a:off x="1051560" y="173736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b"/>
          <p:cNvSpPr txBox="1"/>
          <p:nvPr/>
        </p:nvSpPr>
        <p:spPr>
          <a:xfrm>
            <a:off x="1051560" y="186537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23A5E"/>
                </a:solidFill>
                <a:latin typeface="Calibri"/>
                <a:cs typeface="Calibri"/>
              </a:rPr>
              <a:t>MAY - JUN</a:t>
            </a:r>
          </a:p>
        </p:txBody>
      </p:sp>
      <p:sp>
        <p:nvSpPr>
          <p:cNvPr id="13" name="tb"/>
          <p:cNvSpPr txBox="1"/>
          <p:nvPr/>
        </p:nvSpPr>
        <p:spPr>
          <a:xfrm>
            <a:off x="1106424" y="221284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Evaluacion IA SimpliRoute</a:t>
            </a:r>
          </a:p>
        </p:txBody>
      </p:sp>
      <p:sp>
        <p:nvSpPr>
          <p:cNvPr id="14" name="sp"/>
          <p:cNvSpPr/>
          <p:nvPr/>
        </p:nvSpPr>
        <p:spPr>
          <a:xfrm>
            <a:off x="1804416" y="3108960"/>
            <a:ext cx="18288" cy="3200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" name="sp"/>
          <p:cNvSpPr/>
          <p:nvPr/>
        </p:nvSpPr>
        <p:spPr>
          <a:xfrm>
            <a:off x="3291840" y="3218688"/>
            <a:ext cx="457200" cy="457200"/>
          </a:xfrm>
          <a:prstGeom prst="ellipse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16" name="sp"/>
          <p:cNvSpPr/>
          <p:nvPr/>
        </p:nvSpPr>
        <p:spPr>
          <a:xfrm>
            <a:off x="3511296" y="3429000"/>
            <a:ext cx="18288" cy="3200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" name="sp"/>
          <p:cNvSpPr/>
          <p:nvPr/>
        </p:nvSpPr>
        <p:spPr>
          <a:xfrm>
            <a:off x="2758440" y="374904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b"/>
          <p:cNvSpPr txBox="1"/>
          <p:nvPr/>
        </p:nvSpPr>
        <p:spPr>
          <a:xfrm>
            <a:off x="2758440" y="387705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23A5E"/>
                </a:solidFill>
                <a:latin typeface="Calibri"/>
                <a:cs typeface="Calibri"/>
              </a:rPr>
              <a:t>JUNIO</a:t>
            </a:r>
          </a:p>
        </p:txBody>
      </p:sp>
      <p:sp>
        <p:nvSpPr>
          <p:cNvPr id="19" name="tb"/>
          <p:cNvSpPr txBox="1"/>
          <p:nvPr/>
        </p:nvSpPr>
        <p:spPr>
          <a:xfrm>
            <a:off x="2813304" y="422452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Correccion masiva base de clientes</a:t>
            </a:r>
          </a:p>
        </p:txBody>
      </p:sp>
      <p:sp>
        <p:nvSpPr>
          <p:cNvPr id="20" name="sp"/>
          <p:cNvSpPr/>
          <p:nvPr/>
        </p:nvSpPr>
        <p:spPr>
          <a:xfrm>
            <a:off x="4998720" y="3218688"/>
            <a:ext cx="457200" cy="457200"/>
          </a:xfrm>
          <a:prstGeom prst="ellipse">
            <a:avLst/>
          </a:prstGeom>
          <a:solidFill>
            <a:srgbClr val="1C5A8C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21" name="sp"/>
          <p:cNvSpPr/>
          <p:nvPr/>
        </p:nvSpPr>
        <p:spPr>
          <a:xfrm>
            <a:off x="4465320" y="173736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tb"/>
          <p:cNvSpPr txBox="1"/>
          <p:nvPr/>
        </p:nvSpPr>
        <p:spPr>
          <a:xfrm>
            <a:off x="4465320" y="186537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C5A8C"/>
                </a:solidFill>
                <a:latin typeface="Calibri"/>
                <a:cs typeface="Calibri"/>
              </a:rPr>
              <a:t>JUN - JUL</a:t>
            </a:r>
          </a:p>
        </p:txBody>
      </p:sp>
      <p:sp>
        <p:nvSpPr>
          <p:cNvPr id="23" name="tb"/>
          <p:cNvSpPr txBox="1"/>
          <p:nvPr/>
        </p:nvSpPr>
        <p:spPr>
          <a:xfrm>
            <a:off x="4520184" y="221284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Desarrollo formularios normalizados</a:t>
            </a:r>
          </a:p>
        </p:txBody>
      </p:sp>
      <p:sp>
        <p:nvSpPr>
          <p:cNvPr id="24" name="sp"/>
          <p:cNvSpPr/>
          <p:nvPr/>
        </p:nvSpPr>
        <p:spPr>
          <a:xfrm>
            <a:off x="5218176" y="3108960"/>
            <a:ext cx="18288" cy="320040"/>
          </a:xfrm>
          <a:prstGeom prst="rect">
            <a:avLst/>
          </a:prstGeom>
          <a:solidFill>
            <a:srgbClr val="1C5A8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5" name="sp"/>
          <p:cNvSpPr/>
          <p:nvPr/>
        </p:nvSpPr>
        <p:spPr>
          <a:xfrm>
            <a:off x="6705600" y="3218688"/>
            <a:ext cx="457200" cy="457200"/>
          </a:xfrm>
          <a:prstGeom prst="ellipse">
            <a:avLst/>
          </a:prstGeom>
          <a:solidFill>
            <a:srgbClr val="1C5A8C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26" name="sp"/>
          <p:cNvSpPr/>
          <p:nvPr/>
        </p:nvSpPr>
        <p:spPr>
          <a:xfrm>
            <a:off x="6925056" y="3429000"/>
            <a:ext cx="18288" cy="320040"/>
          </a:xfrm>
          <a:prstGeom prst="rect">
            <a:avLst/>
          </a:prstGeom>
          <a:solidFill>
            <a:srgbClr val="1C5A8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7" name="sp"/>
          <p:cNvSpPr/>
          <p:nvPr/>
        </p:nvSpPr>
        <p:spPr>
          <a:xfrm>
            <a:off x="6172200" y="374904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8" name="tb"/>
          <p:cNvSpPr txBox="1"/>
          <p:nvPr/>
        </p:nvSpPr>
        <p:spPr>
          <a:xfrm>
            <a:off x="6172200" y="387705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C5A8C"/>
                </a:solidFill>
                <a:latin typeface="Calibri"/>
                <a:cs typeface="Calibri"/>
              </a:rPr>
              <a:t>JULIO</a:t>
            </a:r>
          </a:p>
        </p:txBody>
      </p:sp>
      <p:sp>
        <p:nvSpPr>
          <p:cNvPr id="29" name="tb"/>
          <p:cNvSpPr txBox="1"/>
          <p:nvPr/>
        </p:nvSpPr>
        <p:spPr>
          <a:xfrm>
            <a:off x="6227064" y="422452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Implementacion Agente IA</a:t>
            </a:r>
          </a:p>
        </p:txBody>
      </p:sp>
      <p:sp>
        <p:nvSpPr>
          <p:cNvPr id="30" name="sp"/>
          <p:cNvSpPr/>
          <p:nvPr/>
        </p:nvSpPr>
        <p:spPr>
          <a:xfrm>
            <a:off x="8412480" y="3218688"/>
            <a:ext cx="457200" cy="457200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~</a:t>
            </a:r>
          </a:p>
        </p:txBody>
      </p:sp>
      <p:sp>
        <p:nvSpPr>
          <p:cNvPr id="31" name="sp"/>
          <p:cNvSpPr/>
          <p:nvPr/>
        </p:nvSpPr>
        <p:spPr>
          <a:xfrm>
            <a:off x="7879080" y="173736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tb"/>
          <p:cNvSpPr txBox="1"/>
          <p:nvPr/>
        </p:nvSpPr>
        <p:spPr>
          <a:xfrm>
            <a:off x="7879080" y="186537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E8711E"/>
                </a:solidFill>
                <a:latin typeface="Calibri"/>
                <a:cs typeface="Calibri"/>
              </a:rPr>
              <a:t>AGO - SEP</a:t>
            </a:r>
          </a:p>
        </p:txBody>
      </p:sp>
      <p:sp>
        <p:nvSpPr>
          <p:cNvPr id="33" name="tb"/>
          <p:cNvSpPr txBox="1"/>
          <p:nvPr/>
        </p:nvSpPr>
        <p:spPr>
          <a:xfrm>
            <a:off x="7933944" y="221284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Expansion Same Day RM</a:t>
            </a:r>
          </a:p>
        </p:txBody>
      </p:sp>
      <p:sp>
        <p:nvSpPr>
          <p:cNvPr id="34" name="sp"/>
          <p:cNvSpPr/>
          <p:nvPr/>
        </p:nvSpPr>
        <p:spPr>
          <a:xfrm>
            <a:off x="8631936" y="3108960"/>
            <a:ext cx="18288" cy="32004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5" name="sp"/>
          <p:cNvSpPr/>
          <p:nvPr/>
        </p:nvSpPr>
        <p:spPr>
          <a:xfrm>
            <a:off x="10119360" y="3218688"/>
            <a:ext cx="457200" cy="457200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~</a:t>
            </a:r>
          </a:p>
        </p:txBody>
      </p:sp>
      <p:sp>
        <p:nvSpPr>
          <p:cNvPr id="36" name="sp"/>
          <p:cNvSpPr/>
          <p:nvPr/>
        </p:nvSpPr>
        <p:spPr>
          <a:xfrm>
            <a:off x="10338816" y="3429000"/>
            <a:ext cx="18288" cy="32004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7" name="sp"/>
          <p:cNvSpPr/>
          <p:nvPr/>
        </p:nvSpPr>
        <p:spPr>
          <a:xfrm>
            <a:off x="9585960" y="374904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8" name="tb"/>
          <p:cNvSpPr txBox="1"/>
          <p:nvPr/>
        </p:nvSpPr>
        <p:spPr>
          <a:xfrm>
            <a:off x="9585960" y="387705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E8711E"/>
                </a:solidFill>
                <a:latin typeface="Calibri"/>
                <a:cs typeface="Calibri"/>
              </a:rPr>
              <a:t>SEP - OCT</a:t>
            </a:r>
          </a:p>
        </p:txBody>
      </p:sp>
      <p:sp>
        <p:nvSpPr>
          <p:cNvPr id="39" name="tb"/>
          <p:cNvSpPr txBox="1"/>
          <p:nvPr/>
        </p:nvSpPr>
        <p:spPr>
          <a:xfrm>
            <a:off x="9640824" y="422452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Proyecto Omnicanalidad Retail</a:t>
            </a:r>
          </a:p>
        </p:txBody>
      </p:sp>
      <p:sp>
        <p:nvSpPr>
          <p:cNvPr id="40" name="sp"/>
          <p:cNvSpPr/>
          <p:nvPr/>
        </p:nvSpPr>
        <p:spPr>
          <a:xfrm>
            <a:off x="566928" y="5897880"/>
            <a:ext cx="256032" cy="256032"/>
          </a:xfrm>
          <a:prstGeom prst="ellipse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1" name="tb"/>
          <p:cNvSpPr txBox="1"/>
          <p:nvPr/>
        </p:nvSpPr>
        <p:spPr>
          <a:xfrm>
            <a:off x="868680" y="5852160"/>
            <a:ext cx="2743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Completado</a:t>
            </a:r>
          </a:p>
        </p:txBody>
      </p:sp>
      <p:sp>
        <p:nvSpPr>
          <p:cNvPr id="42" name="sp"/>
          <p:cNvSpPr/>
          <p:nvPr/>
        </p:nvSpPr>
        <p:spPr>
          <a:xfrm>
            <a:off x="2468880" y="5897880"/>
            <a:ext cx="256032" cy="256032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3" name="tb"/>
          <p:cNvSpPr txBox="1"/>
          <p:nvPr/>
        </p:nvSpPr>
        <p:spPr>
          <a:xfrm>
            <a:off x="2770632" y="5852160"/>
            <a:ext cx="2743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En curso / planificado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RESULTADOS EN CUATRO DIMENSIONES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Impacto Esperado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p"/>
          <p:cNvSpPr/>
          <p:nvPr/>
        </p:nvSpPr>
        <p:spPr>
          <a:xfrm>
            <a:off x="566928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566928" y="1737360"/>
            <a:ext cx="2679192" cy="64008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Operacion</a:t>
            </a:r>
          </a:p>
        </p:txBody>
      </p:sp>
      <p:sp>
        <p:nvSpPr>
          <p:cNvPr id="11" name="tb"/>
          <p:cNvSpPr txBox="1"/>
          <p:nvPr/>
        </p:nvSpPr>
        <p:spPr>
          <a:xfrm>
            <a:off x="731520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Menos entregas fallidas.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Menos reprocesos.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Menos retornos al CD.</a:t>
            </a:r>
          </a:p>
        </p:txBody>
      </p:sp>
      <p:sp>
        <p:nvSpPr>
          <p:cNvPr id="12" name="sp"/>
          <p:cNvSpPr/>
          <p:nvPr/>
        </p:nvSpPr>
        <p:spPr>
          <a:xfrm>
            <a:off x="3364992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p"/>
          <p:cNvSpPr/>
          <p:nvPr/>
        </p:nvSpPr>
        <p:spPr>
          <a:xfrm>
            <a:off x="3364992" y="1737360"/>
            <a:ext cx="2679192" cy="640080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Cliente</a:t>
            </a:r>
          </a:p>
        </p:txBody>
      </p:sp>
      <p:sp>
        <p:nvSpPr>
          <p:cNvPr id="14" name="tb"/>
          <p:cNvSpPr txBox="1"/>
          <p:nvPr/>
        </p:nvSpPr>
        <p:spPr>
          <a:xfrm>
            <a:off x="3529584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Direcciones correctas.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Entregas mas rapidas.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Mejor experiencia de compra.</a:t>
            </a:r>
          </a:p>
        </p:txBody>
      </p:sp>
      <p:sp>
        <p:nvSpPr>
          <p:cNvPr id="15" name="sp"/>
          <p:cNvSpPr/>
          <p:nvPr/>
        </p:nvSpPr>
        <p:spPr>
          <a:xfrm>
            <a:off x="6163056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p"/>
          <p:cNvSpPr/>
          <p:nvPr/>
        </p:nvSpPr>
        <p:spPr>
          <a:xfrm>
            <a:off x="6163056" y="1737360"/>
            <a:ext cx="2679192" cy="64008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Comercial</a:t>
            </a:r>
          </a:p>
        </p:txBody>
      </p:sp>
      <p:sp>
        <p:nvSpPr>
          <p:cNvPr id="17" name="tb"/>
          <p:cNvSpPr txBox="1"/>
          <p:nvPr/>
        </p:nvSpPr>
        <p:spPr>
          <a:xfrm>
            <a:off x="6327648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Mas ventas.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Mayor disponibilidad de inventario.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Omnicanalidad.</a:t>
            </a:r>
          </a:p>
        </p:txBody>
      </p:sp>
      <p:sp>
        <p:nvSpPr>
          <p:cNvPr id="18" name="sp"/>
          <p:cNvSpPr/>
          <p:nvPr/>
        </p:nvSpPr>
        <p:spPr>
          <a:xfrm>
            <a:off x="8961120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p"/>
          <p:cNvSpPr/>
          <p:nvPr/>
        </p:nvSpPr>
        <p:spPr>
          <a:xfrm>
            <a:off x="8961120" y="1737360"/>
            <a:ext cx="2679192" cy="640080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Financiero</a:t>
            </a:r>
          </a:p>
        </p:txBody>
      </p:sp>
      <p:sp>
        <p:nvSpPr>
          <p:cNvPr id="20" name="tb"/>
          <p:cNvSpPr txBox="1"/>
          <p:nvPr/>
        </p:nvSpPr>
        <p:spPr>
          <a:xfrm>
            <a:off x="9125712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Ahorro operativo.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Mayor productividad logistica.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Incremento potencial de ingresos.</a:t>
            </a:r>
          </a:p>
        </p:txBody>
      </p:sp>
      <p:sp>
        <p:nvSpPr>
          <p:cNvPr id="21" name="sp"/>
          <p:cNvSpPr/>
          <p:nvPr/>
        </p:nvSpPr>
        <p:spPr>
          <a:xfrm>
            <a:off x="566928" y="4526280"/>
            <a:ext cx="11064240" cy="1554480"/>
          </a:xfrm>
          <a:prstGeom prst="roundRect">
            <a:avLst/>
          </a:prstGeom>
          <a:solidFill>
            <a:srgbClr val="262626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p"/>
          <p:cNvSpPr/>
          <p:nvPr/>
        </p:nvSpPr>
        <p:spPr>
          <a:xfrm>
            <a:off x="566928" y="4526280"/>
            <a:ext cx="128016" cy="155448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3" name="tb"/>
          <p:cNvSpPr txBox="1"/>
          <p:nvPr/>
        </p:nvSpPr>
        <p:spPr>
          <a:xfrm>
            <a:off x="914400" y="4672584"/>
            <a:ext cx="1042416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1" i="0" spc="180" dirty="0">
                <a:solidFill>
                  <a:srgbClr val="E8711E"/>
                </a:solidFill>
                <a:latin typeface="Calibri"/>
                <a:cs typeface="Calibri"/>
              </a:rPr>
              <a:t>MENSAJE FINAL PARA GERENCIA</a:t>
            </a:r>
          </a:p>
        </p:txBody>
      </p:sp>
      <p:sp>
        <p:nvSpPr>
          <p:cNvPr id="24" name="tb"/>
          <p:cNvSpPr txBox="1"/>
          <p:nvPr/>
        </p:nvSpPr>
        <p:spPr>
          <a:xfrm>
            <a:off x="914400" y="5029200"/>
            <a:ext cx="10469880" cy="9601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lnSpc>
                <a:spcPct val="108000"/>
              </a:lnSpc>
              <a:buNone/>
            </a:pPr>
            <a:r>
              <a:rPr lang="es-ES" sz="1300" b="0" i="1" dirty="0">
                <a:solidFill>
                  <a:srgbClr val="E6EDF3"/>
                </a:solidFill>
                <a:latin typeface="Calibri"/>
                <a:cs typeface="Calibri"/>
              </a:rPr>
              <a:t>Estamos construyendo las capacidades para que CAV opere con una vision omnicanal real, donde los datos de clientes, la logistica inteligente y la disponibilidad de inventario trabajen integradas para mejorar la experiencia de compra, reducir costos operacionales y habilitar el crecimiento futuro del negocio.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V">
  <a:themeElements>
    <a:clrScheme name="CAV">
      <a:dk1>
        <a:sysClr val="windowText" lastClr="000000"/>
      </a:dk1>
      <a:lt1>
        <a:sysClr val="window" lastClr="FFFFFF"/>
      </a:lt1>
      <a:dk2>
        <a:srgbClr val="123A5E"/>
      </a:dk2>
      <a:lt2>
        <a:srgbClr val="F4F4F4"/>
      </a:lt2>
      <a:accent1>
        <a:srgbClr val="123A5E"/>
      </a:accent1>
      <a:accent2>
        <a:srgbClr val="E8711E"/>
      </a:accent2>
      <a:accent3>
        <a:srgbClr val="1C5A8C"/>
      </a:accent3>
      <a:accent4>
        <a:srgbClr val="1C5A8C"/>
      </a:accent4>
      <a:accent5>
        <a:srgbClr val="6B6B6B"/>
      </a:accent5>
      <a:accent6>
        <a:srgbClr val="333333"/>
      </a:accent6>
      <a:hlink>
        <a:srgbClr val="1F6FB2"/>
      </a:hlink>
      <a:folHlink>
        <a:srgbClr val="954F72"/>
      </a:folHlink>
    </a:clrScheme>
    <a:fontScheme name="CAV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CAV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
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454545"/>
              </a:gs>
              <a:gs pos="100000">
                <a:srgbClr val="2B2B2B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band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ine"/>
          <p:cNvSpPr/>
          <p:nvPr/>
        </p:nvSpPr>
        <p:spPr>
          <a:xfrm>
            <a:off x="7680960" y="0"/>
            <a:ext cx="146304" cy="685800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" name="logoring"/>
          <p:cNvSpPr/>
          <p:nvPr/>
        </p:nvSpPr>
        <p:spPr>
          <a:xfrm>
            <a:off x="10698480" y="5029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logo"/>
          <p:cNvSpPr/>
          <p:nvPr/>
        </p:nvSpPr>
        <p:spPr>
          <a:xfrm>
            <a:off x="10780090" y="584530"/>
            <a:ext cx="796900" cy="79690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7" name="tb"/>
          <p:cNvSpPr txBox="1"/>
          <p:nvPr/>
        </p:nvSpPr>
        <p:spPr>
          <a:xfrm>
            <a:off x="777240" y="868680"/>
            <a:ext cx="7315200" cy="4572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200" b="1" i="0" spc="240" dirty="0">
                <a:solidFill>
                  <a:srgbClr val="E8711E"/>
                </a:solidFill>
                <a:latin typeface="Calibri"/>
                <a:cs typeface="Calibri"/>
              </a:rPr>
              <a:t>LAMINA 1  ·  VISION GENERAL</a:t>
            </a:r>
          </a:p>
        </p:txBody>
      </p:sp>
      <p:sp>
        <p:nvSpPr>
          <p:cNvPr id="8" name="tb"/>
          <p:cNvSpPr txBox="1"/>
          <p:nvPr/>
        </p:nvSpPr>
        <p:spPr>
          <a:xfrm>
            <a:off x="731520" y="1600200"/>
            <a:ext cx="7406640" cy="237744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spcAft>
                <a:spcPts val="100"/>
              </a:spcAft>
              <a:buNone/>
            </a:pPr>
            <a:r>
              <a:rPr lang="es-ES" sz="4000" b="1" i="0" dirty="0">
                <a:solidFill>
                  <a:srgbClr val="FFFFFF"/>
                </a:solidFill>
                <a:latin typeface="Calibri"/>
                <a:cs typeface="Calibri"/>
              </a:rPr>
              <a:t>Programa de Transformacion</a:t>
            </a:r>
          </a:p>
          <a:p>
            <a:pPr marL="0" indent="0" lvl="0" algn="l">
              <a:buNone/>
            </a:pPr>
            <a:r>
              <a:rPr lang="es-ES" sz="4000" b="1" i="0" dirty="0">
                <a:solidFill>
                  <a:srgbClr val="E8711E"/>
                </a:solidFill>
                <a:latin typeface="Calibri"/>
                <a:cs typeface="Calibri"/>
              </a:rPr>
              <a:t>Omnicanal y Ultima Milla</a:t>
            </a:r>
          </a:p>
        </p:txBody>
      </p:sp>
      <p:sp>
        <p:nvSpPr>
          <p:cNvPr id="9" name="tb"/>
          <p:cNvSpPr txBox="1"/>
          <p:nvPr/>
        </p:nvSpPr>
        <p:spPr>
          <a:xfrm>
            <a:off x="777240" y="3703320"/>
            <a:ext cx="6766560" cy="54864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300" b="1" i="0" spc="200" dirty="0">
                <a:solidFill>
                  <a:srgbClr val="E8711E"/>
                </a:solidFill>
                <a:latin typeface="Calibri"/>
                <a:cs typeface="Calibri"/>
              </a:rPr>
              <a:t>OBJETIVO</a:t>
            </a:r>
          </a:p>
        </p:txBody>
      </p:sp>
      <p:sp>
        <p:nvSpPr>
          <p:cNvPr id="10" name="tb"/>
          <p:cNvSpPr txBox="1"/>
          <p:nvPr/>
        </p:nvSpPr>
        <p:spPr>
          <a:xfrm>
            <a:off x="777240" y="4069080"/>
            <a:ext cx="6903720" cy="640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500" b="0" i="0" dirty="0">
                <a:solidFill>
                  <a:srgbClr val="D7E2EC"/>
                </a:solidFill>
                <a:latin typeface="Calibri"/>
                <a:cs typeface="Calibri"/>
              </a:rPr>
              <a:t>Mejorar la experiencia de compra y entrega de nuestros socios mediante:</a:t>
            </a:r>
          </a:p>
        </p:txBody>
      </p:sp>
      <p:sp>
        <p:nvSpPr>
          <p:cNvPr id="11" name="tb"/>
          <p:cNvSpPr txBox="1"/>
          <p:nvPr/>
        </p:nvSpPr>
        <p:spPr>
          <a:xfrm>
            <a:off x="777240" y="4709160"/>
            <a:ext cx="6949440" cy="18288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spcAft>
                <a:spcPts val="320"/>
              </a:spcAft>
              <a:buClr>
                <a:srgbClr val="E8711E"/>
              </a:buClr>
              <a:buFont typeface="Arial"/>
              <a:buChar char="▶"/>
            </a:pPr>
            <a:r>
              <a:rPr lang="es-ES" sz="1350" b="0" i="0" dirty="0">
                <a:solidFill>
                  <a:srgbClr val="FFFFFF"/>
                </a:solidFill>
                <a:latin typeface="Calibri"/>
                <a:cs typeface="Calibri"/>
              </a:rPr>
              <a:t>Direcciones de clientes confiables.</a:t>
            </a:r>
          </a:p>
          <a:p>
            <a:pPr marL="228600" indent="-228600" lvl="0" algn="l">
              <a:spcAft>
                <a:spcPts val="320"/>
              </a:spcAft>
              <a:buClr>
                <a:srgbClr val="E8711E"/>
              </a:buClr>
              <a:buFont typeface="Arial"/>
              <a:buChar char="▶"/>
            </a:pPr>
            <a:r>
              <a:rPr lang="es-ES" sz="1350" b="0" i="0" dirty="0">
                <a:solidFill>
                  <a:srgbClr val="FFFFFF"/>
                </a:solidFill>
                <a:latin typeface="Calibri"/>
                <a:cs typeface="Calibri"/>
              </a:rPr>
              <a:t>Automatizacion de incidencias de distribucion.</a:t>
            </a:r>
          </a:p>
          <a:p>
            <a:pPr marL="228600" indent="-228600" lvl="0" algn="l">
              <a:spcAft>
                <a:spcPts val="320"/>
              </a:spcAft>
              <a:buClr>
                <a:srgbClr val="E8711E"/>
              </a:buClr>
              <a:buFont typeface="Arial"/>
              <a:buChar char="▶"/>
            </a:pPr>
            <a:r>
              <a:rPr lang="es-ES" sz="1350" b="0" i="0" dirty="0">
                <a:solidFill>
                  <a:srgbClr val="FFFFFF"/>
                </a:solidFill>
                <a:latin typeface="Calibri"/>
                <a:cs typeface="Calibri"/>
              </a:rPr>
              <a:t>Entregas mas rapidas.</a:t>
            </a:r>
          </a:p>
          <a:p>
            <a:pPr marL="228600" indent="-228600" lvl="0" algn="l">
              <a:spcAft>
                <a:spcPts val="320"/>
              </a:spcAft>
              <a:buClr>
                <a:srgbClr val="E8711E"/>
              </a:buClr>
              <a:buFont typeface="Arial"/>
              <a:buChar char="▶"/>
            </a:pPr>
            <a:r>
              <a:rPr lang="es-ES" sz="1350" b="0" i="0" dirty="0">
                <a:solidFill>
                  <a:srgbClr val="FFFFFF"/>
                </a:solidFill>
                <a:latin typeface="Calibri"/>
                <a:cs typeface="Calibri"/>
              </a:rPr>
              <a:t>Mayor disponibilidad de inventario.</a:t>
            </a:r>
          </a:p>
          <a:p>
            <a:pPr marL="228600" indent="-228600" lvl="0" algn="l">
              <a:spcAft>
                <a:spcPts val="320"/>
              </a:spcAft>
              <a:buClr>
                <a:srgbClr val="E8711E"/>
              </a:buClr>
              <a:buFont typeface="Arial"/>
              <a:buChar char="▶"/>
            </a:pPr>
            <a:r>
              <a:rPr lang="es-ES" sz="1350" b="0" i="0" dirty="0">
                <a:solidFill>
                  <a:srgbClr val="FFFFFF"/>
                </a:solidFill>
                <a:latin typeface="Calibri"/>
                <a:cs typeface="Calibri"/>
              </a:rPr>
              <a:t>Integracion omnicanal de tiendas y centros de distribucion.</a:t>
            </a:r>
          </a:p>
        </p:txBody>
      </p:sp>
      <p:sp>
        <p:nvSpPr>
          <p:cNvPr id="12" name="sp"/>
          <p:cNvSpPr/>
          <p:nvPr/>
        </p:nvSpPr>
        <p:spPr>
          <a:xfrm>
            <a:off x="8229600" y="1828800"/>
            <a:ext cx="3566160" cy="713232"/>
          </a:xfrm>
          <a:prstGeom prst="roundRect">
            <a:avLst/>
          </a:prstGeom>
          <a:solidFill>
            <a:srgbClr val="0C2742"/>
          </a:solidFill>
          <a:ln w="9525">
            <a:solidFill>
              <a:srgbClr val="E8711E"/>
            </a:solidFill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400" b="1" i="0" spc="16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</a:p>
        </p:txBody>
      </p:sp>
      <p:sp>
        <p:nvSpPr>
          <p:cNvPr id="13" name="sp"/>
          <p:cNvSpPr/>
          <p:nvPr/>
        </p:nvSpPr>
        <p:spPr>
          <a:xfrm>
            <a:off x="8229600" y="2743200"/>
            <a:ext cx="3566160" cy="713232"/>
          </a:xfrm>
          <a:prstGeom prst="roundRect">
            <a:avLst/>
          </a:prstGeom>
          <a:solidFill>
            <a:srgbClr val="0C2742"/>
          </a:solidFill>
          <a:ln w="9525">
            <a:solidFill>
              <a:srgbClr val="E8711E"/>
            </a:solidFill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400" b="1" i="0" spc="160" dirty="0">
                <a:solidFill>
                  <a:srgbClr val="FFFFFF"/>
                </a:solidFill>
                <a:latin typeface="Calibri"/>
                <a:cs typeface="Calibri"/>
              </a:rPr>
              <a:t>LOGISTICA</a:t>
            </a:r>
          </a:p>
        </p:txBody>
      </p:sp>
      <p:sp>
        <p:nvSpPr>
          <p:cNvPr id="14" name="sp"/>
          <p:cNvSpPr/>
          <p:nvPr/>
        </p:nvSpPr>
        <p:spPr>
          <a:xfrm>
            <a:off x="8229600" y="3657600"/>
            <a:ext cx="3566160" cy="713232"/>
          </a:xfrm>
          <a:prstGeom prst="roundRect">
            <a:avLst/>
          </a:prstGeom>
          <a:solidFill>
            <a:srgbClr val="0C2742"/>
          </a:solidFill>
          <a:ln w="9525">
            <a:solidFill>
              <a:srgbClr val="E8711E"/>
            </a:solidFill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400" b="1" i="0" spc="160" dirty="0">
                <a:solidFill>
                  <a:srgbClr val="FFFFFF"/>
                </a:solidFill>
                <a:latin typeface="Calibri"/>
                <a:cs typeface="Calibri"/>
              </a:rPr>
              <a:t>IA EN RUTA</a:t>
            </a:r>
          </a:p>
        </p:txBody>
      </p:sp>
      <p:sp>
        <p:nvSpPr>
          <p:cNvPr id="15" name="sp"/>
          <p:cNvSpPr/>
          <p:nvPr/>
        </p:nvSpPr>
        <p:spPr>
          <a:xfrm>
            <a:off x="8229600" y="4572000"/>
            <a:ext cx="3566160" cy="713232"/>
          </a:xfrm>
          <a:prstGeom prst="roundRect">
            <a:avLst/>
          </a:prstGeom>
          <a:solidFill>
            <a:srgbClr val="0C2742"/>
          </a:solidFill>
          <a:ln w="9525">
            <a:solidFill>
              <a:srgbClr val="E8711E"/>
            </a:solidFill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400" b="1" i="0" spc="160" dirty="0">
                <a:solidFill>
                  <a:srgbClr val="FFFFFF"/>
                </a:solidFill>
                <a:latin typeface="Calibri"/>
                <a:cs typeface="Calibri"/>
              </a:rPr>
              <a:t>OMNICANAL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logoring"/>
          <p:cNvSpPr/>
          <p:nvPr/>
        </p:nvSpPr>
        <p:spPr>
          <a:xfrm>
            <a:off x="10561320" y="164592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ogo"/>
          <p:cNvSpPr/>
          <p:nvPr/>
        </p:nvSpPr>
        <p:spPr>
          <a:xfrm>
            <a:off x="10635157" y="238429"/>
            <a:ext cx="721006" cy="72100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5" name="tb"/>
          <p:cNvSpPr txBox="1"/>
          <p:nvPr/>
        </p:nvSpPr>
        <p:spPr>
          <a:xfrm>
            <a:off x="548640" y="182880"/>
            <a:ext cx="9601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1" i="0" spc="200" dirty="0">
                <a:solidFill>
                  <a:srgbClr val="E8711E"/>
                </a:solidFill>
                <a:latin typeface="Calibri"/>
                <a:cs typeface="Calibri"/>
              </a:rPr>
              <a:t>EL DESAFIO DE CAV</a:t>
            </a:r>
          </a:p>
        </p:txBody>
      </p:sp>
      <p:sp>
        <p:nvSpPr>
          <p:cNvPr id="6" name="tb"/>
          <p:cNvSpPr txBox="1"/>
          <p:nvPr/>
        </p:nvSpPr>
        <p:spPr>
          <a:xfrm>
            <a:off x="530352" y="457200"/>
            <a:ext cx="9692640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2600" b="1" i="0" dirty="0">
                <a:solidFill>
                  <a:srgbClr val="FFFFFF"/>
                </a:solidFill>
                <a:latin typeface="Calibri"/>
                <a:cs typeface="Calibri"/>
              </a:rPr>
              <a:t>Situacion Actual</a:t>
            </a:r>
          </a:p>
        </p:txBody>
      </p:sp>
      <p:sp>
        <p:nvSpPr>
          <p:cNvPr id="7" name="sp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rule"/>
          <p:cNvSpPr/>
          <p:nvPr/>
        </p:nvSpPr>
        <p:spPr>
          <a:xfrm>
            <a:off x="0" y="1207008"/>
            <a:ext cx="12192000" cy="4572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introtab"/>
          <p:cNvSpPr/>
          <p:nvPr/>
        </p:nvSpPr>
        <p:spPr>
          <a:xfrm>
            <a:off x="566928" y="1417320"/>
            <a:ext cx="91440" cy="91440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tb"/>
          <p:cNvSpPr txBox="1"/>
          <p:nvPr/>
        </p:nvSpPr>
        <p:spPr>
          <a:xfrm>
            <a:off x="777240" y="1371600"/>
            <a:ext cx="10881360" cy="100584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lnSpc>
                <a:spcPct val="112000"/>
              </a:lnSpc>
              <a:buNone/>
            </a:pPr>
            <a:r>
              <a:rPr lang="es-ES" sz="1400" b="0" i="0" dirty="0">
                <a:solidFill>
                  <a:srgbClr val="333333"/>
                </a:solidFill>
                <a:latin typeface="Calibri"/>
                <a:cs typeface="Calibri"/>
              </a:rPr>
              <a:t>El Club de Amantes del Vino (CAV) enfrenta desafios criticos en su operacion logistica y comercial: direcciones de clientes inexactas que derivan en entregas fallidas, tiempos de despacho elevados en la Region Metropolitana y canales de venta que operan de forma aislada. Este programa aborda estos retos de manera integral, bajo una unica estrategia omnicanal.</a:t>
            </a:r>
          </a:p>
        </p:txBody>
      </p:sp>
      <p:sp>
        <p:nvSpPr>
          <p:cNvPr id="11" name="card"/>
          <p:cNvSpPr/>
          <p:nvPr/>
        </p:nvSpPr>
        <p:spPr>
          <a:xfrm>
            <a:off x="566928" y="2468880"/>
            <a:ext cx="26289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op"/>
          <p:cNvSpPr/>
          <p:nvPr/>
        </p:nvSpPr>
        <p:spPr>
          <a:xfrm>
            <a:off x="566928" y="2468880"/>
            <a:ext cx="2628900" cy="146304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bot"/>
          <p:cNvSpPr/>
          <p:nvPr/>
        </p:nvSpPr>
        <p:spPr>
          <a:xfrm flipV="1">
            <a:off x="566928" y="6025896"/>
            <a:ext cx="2628900" cy="146304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" name="halo"/>
          <p:cNvSpPr/>
          <p:nvPr/>
        </p:nvSpPr>
        <p:spPr>
          <a:xfrm>
            <a:off x="1149858" y="2651760"/>
            <a:ext cx="1463040" cy="1463040"/>
          </a:xfrm>
          <a:prstGeom prst="ellipse">
            <a:avLst/>
          </a:prstGeom>
          <a:solidFill>
            <a:srgbClr val="FBE2C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badge"/>
          <p:cNvSpPr/>
          <p:nvPr/>
        </p:nvSpPr>
        <p:spPr>
          <a:xfrm>
            <a:off x="1287018" y="2788920"/>
            <a:ext cx="1188720" cy="1188720"/>
          </a:xfrm>
          <a:prstGeom prst="ellipse">
            <a:avLst/>
          </a:prstGeom>
          <a:solidFill>
            <a:srgbClr val="E8711E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db"/>
          <p:cNvSpPr/>
          <p:nvPr/>
        </p:nvSpPr>
        <p:spPr>
          <a:xfrm>
            <a:off x="1671066" y="3108960"/>
            <a:ext cx="420624" cy="548640"/>
          </a:xfrm>
          <a:prstGeom prst="can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tb"/>
          <p:cNvSpPr txBox="1"/>
          <p:nvPr/>
        </p:nvSpPr>
        <p:spPr>
          <a:xfrm>
            <a:off x="658368" y="4096512"/>
            <a:ext cx="2446020" cy="640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500" b="1" i="0" dirty="0">
                <a:solidFill>
                  <a:srgbClr val="123A5E"/>
                </a:solidFill>
                <a:latin typeface="Calibri"/>
                <a:cs typeface="Calibri"/>
              </a:rPr>
              <a:t>Datos</a:t>
            </a:r>
          </a:p>
        </p:txBody>
      </p:sp>
      <p:sp>
        <p:nvSpPr>
          <p:cNvPr id="18" name="uline"/>
          <p:cNvSpPr/>
          <p:nvPr/>
        </p:nvSpPr>
        <p:spPr>
          <a:xfrm>
            <a:off x="1588770" y="4681728"/>
            <a:ext cx="585216" cy="54864"/>
          </a:xfrm>
          <a:prstGeom prst="round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tb"/>
          <p:cNvSpPr txBox="1"/>
          <p:nvPr/>
        </p:nvSpPr>
        <p:spPr>
          <a:xfrm>
            <a:off x="786384" y="4864608"/>
            <a:ext cx="2226564" cy="10515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Mas de 35.000 clientes con direcciones de calidad dispar.</a:t>
            </a:r>
          </a:p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Multiples canales de captura sin estandar unico.</a:t>
            </a:r>
          </a:p>
        </p:txBody>
      </p:sp>
      <p:sp>
        <p:nvSpPr>
          <p:cNvPr id="20" name="card"/>
          <p:cNvSpPr/>
          <p:nvPr/>
        </p:nvSpPr>
        <p:spPr>
          <a:xfrm>
            <a:off x="3383280" y="2468880"/>
            <a:ext cx="26289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op"/>
          <p:cNvSpPr/>
          <p:nvPr/>
        </p:nvSpPr>
        <p:spPr>
          <a:xfrm>
            <a:off x="3383280" y="2468880"/>
            <a:ext cx="2628900" cy="146304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bot"/>
          <p:cNvSpPr/>
          <p:nvPr/>
        </p:nvSpPr>
        <p:spPr>
          <a:xfrm flipV="1">
            <a:off x="3383280" y="6025896"/>
            <a:ext cx="2628900" cy="146304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halo"/>
          <p:cNvSpPr/>
          <p:nvPr/>
        </p:nvSpPr>
        <p:spPr>
          <a:xfrm>
            <a:off x="3966210" y="2651760"/>
            <a:ext cx="1463040" cy="1463040"/>
          </a:xfrm>
          <a:prstGeom prst="ellipse">
            <a:avLst/>
          </a:prstGeom>
          <a:solidFill>
            <a:srgbClr val="FBE2C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badge"/>
          <p:cNvSpPr/>
          <p:nvPr/>
        </p:nvSpPr>
        <p:spPr>
          <a:xfrm>
            <a:off x="4103370" y="2788920"/>
            <a:ext cx="1188720" cy="1188720"/>
          </a:xfrm>
          <a:prstGeom prst="ellipse">
            <a:avLst/>
          </a:prstGeom>
          <a:solidFill>
            <a:srgbClr val="E8711E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cargo"/>
          <p:cNvSpPr/>
          <p:nvPr/>
        </p:nvSpPr>
        <p:spPr>
          <a:xfrm>
            <a:off x="4295394" y="3182112"/>
            <a:ext cx="475488" cy="329184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6" name="cab"/>
          <p:cNvSpPr/>
          <p:nvPr/>
        </p:nvSpPr>
        <p:spPr>
          <a:xfrm>
            <a:off x="4789170" y="3346704"/>
            <a:ext cx="274320" cy="182880"/>
          </a:xfrm>
          <a:prstGeom prst="round1Rect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7" name="wheel"/>
          <p:cNvSpPr/>
          <p:nvPr/>
        </p:nvSpPr>
        <p:spPr>
          <a:xfrm>
            <a:off x="4459986" y="3529584"/>
            <a:ext cx="155448" cy="15544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8" name="wheel"/>
          <p:cNvSpPr/>
          <p:nvPr/>
        </p:nvSpPr>
        <p:spPr>
          <a:xfrm>
            <a:off x="4862322" y="3529584"/>
            <a:ext cx="155448" cy="15544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9" name="tb"/>
          <p:cNvSpPr txBox="1"/>
          <p:nvPr/>
        </p:nvSpPr>
        <p:spPr>
          <a:xfrm>
            <a:off x="3474720" y="4096512"/>
            <a:ext cx="2446020" cy="640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500" b="1" i="0" dirty="0">
                <a:solidFill>
                  <a:srgbClr val="123A5E"/>
                </a:solidFill>
                <a:latin typeface="Calibri"/>
                <a:cs typeface="Calibri"/>
              </a:rPr>
              <a:t>Distribucion</a:t>
            </a:r>
          </a:p>
        </p:txBody>
      </p:sp>
      <p:sp>
        <p:nvSpPr>
          <p:cNvPr id="30" name="uline"/>
          <p:cNvSpPr/>
          <p:nvPr/>
        </p:nvSpPr>
        <p:spPr>
          <a:xfrm>
            <a:off x="4405122" y="4681728"/>
            <a:ext cx="585216" cy="54864"/>
          </a:xfrm>
          <a:prstGeom prst="round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tb"/>
          <p:cNvSpPr txBox="1"/>
          <p:nvPr/>
        </p:nvSpPr>
        <p:spPr>
          <a:xfrm>
            <a:off x="3602736" y="4864608"/>
            <a:ext cx="2226564" cy="10515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Entregas fallidas por errores de direccion.</a:t>
            </a:r>
          </a:p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Reprocesos y carga retornada al CD.</a:t>
            </a:r>
          </a:p>
        </p:txBody>
      </p:sp>
      <p:sp>
        <p:nvSpPr>
          <p:cNvPr id="32" name="card"/>
          <p:cNvSpPr/>
          <p:nvPr/>
        </p:nvSpPr>
        <p:spPr>
          <a:xfrm>
            <a:off x="6199632" y="2468880"/>
            <a:ext cx="26289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top"/>
          <p:cNvSpPr/>
          <p:nvPr/>
        </p:nvSpPr>
        <p:spPr>
          <a:xfrm>
            <a:off x="6199632" y="2468880"/>
            <a:ext cx="2628900" cy="146304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bot"/>
          <p:cNvSpPr/>
          <p:nvPr/>
        </p:nvSpPr>
        <p:spPr>
          <a:xfrm flipV="1">
            <a:off x="6199632" y="6025896"/>
            <a:ext cx="2628900" cy="146304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halo"/>
          <p:cNvSpPr/>
          <p:nvPr/>
        </p:nvSpPr>
        <p:spPr>
          <a:xfrm>
            <a:off x="6782562" y="2651760"/>
            <a:ext cx="1463040" cy="1463040"/>
          </a:xfrm>
          <a:prstGeom prst="ellipse">
            <a:avLst/>
          </a:prstGeom>
          <a:solidFill>
            <a:srgbClr val="FBE2C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6" name="badge"/>
          <p:cNvSpPr/>
          <p:nvPr/>
        </p:nvSpPr>
        <p:spPr>
          <a:xfrm>
            <a:off x="6919722" y="2788920"/>
            <a:ext cx="1188720" cy="1188720"/>
          </a:xfrm>
          <a:prstGeom prst="ellipse">
            <a:avLst/>
          </a:prstGeom>
          <a:solidFill>
            <a:srgbClr val="E8711E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head"/>
          <p:cNvSpPr/>
          <p:nvPr/>
        </p:nvSpPr>
        <p:spPr>
          <a:xfrm>
            <a:off x="7367778" y="3054096"/>
            <a:ext cx="274320" cy="27432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8" name="body"/>
          <p:cNvSpPr/>
          <p:nvPr/>
        </p:nvSpPr>
        <p:spPr>
          <a:xfrm>
            <a:off x="7239762" y="3383280"/>
            <a:ext cx="530352" cy="310896"/>
          </a:xfrm>
          <a:prstGeom prst="trapezoid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39" name="heart"/>
          <p:cNvSpPr/>
          <p:nvPr/>
        </p:nvSpPr>
        <p:spPr>
          <a:xfrm>
            <a:off x="7623810" y="2999232"/>
            <a:ext cx="219456" cy="20116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tb"/>
          <p:cNvSpPr txBox="1"/>
          <p:nvPr/>
        </p:nvSpPr>
        <p:spPr>
          <a:xfrm>
            <a:off x="6291072" y="4096512"/>
            <a:ext cx="2446020" cy="640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500" b="1" i="0" dirty="0">
                <a:solidFill>
                  <a:srgbClr val="123A5E"/>
                </a:solidFill>
                <a:latin typeface="Calibri"/>
                <a:cs typeface="Calibri"/>
              </a:rPr>
              <a:t>Experiencia Cliente</a:t>
            </a:r>
          </a:p>
        </p:txBody>
      </p:sp>
      <p:sp>
        <p:nvSpPr>
          <p:cNvPr id="41" name="uline"/>
          <p:cNvSpPr/>
          <p:nvPr/>
        </p:nvSpPr>
        <p:spPr>
          <a:xfrm>
            <a:off x="7221474" y="4681728"/>
            <a:ext cx="585216" cy="54864"/>
          </a:xfrm>
          <a:prstGeom prst="round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2" name="tb"/>
          <p:cNvSpPr txBox="1"/>
          <p:nvPr/>
        </p:nvSpPr>
        <p:spPr>
          <a:xfrm>
            <a:off x="6419088" y="4864608"/>
            <a:ext cx="2226564" cy="10515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Retrasos en las entregas.</a:t>
            </a:r>
          </a:p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Falta de entregas same day en la RM.</a:t>
            </a:r>
          </a:p>
        </p:txBody>
      </p:sp>
      <p:sp>
        <p:nvSpPr>
          <p:cNvPr id="43" name="card"/>
          <p:cNvSpPr/>
          <p:nvPr/>
        </p:nvSpPr>
        <p:spPr>
          <a:xfrm>
            <a:off x="9015984" y="2468880"/>
            <a:ext cx="26289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top"/>
          <p:cNvSpPr/>
          <p:nvPr/>
        </p:nvSpPr>
        <p:spPr>
          <a:xfrm>
            <a:off x="9015984" y="2468880"/>
            <a:ext cx="2628900" cy="146304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5" name="bot"/>
          <p:cNvSpPr/>
          <p:nvPr/>
        </p:nvSpPr>
        <p:spPr>
          <a:xfrm flipV="1">
            <a:off x="9015984" y="6025896"/>
            <a:ext cx="2628900" cy="146304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6" name="halo"/>
          <p:cNvSpPr/>
          <p:nvPr/>
        </p:nvSpPr>
        <p:spPr>
          <a:xfrm>
            <a:off x="9598914" y="2651760"/>
            <a:ext cx="1463040" cy="1463040"/>
          </a:xfrm>
          <a:prstGeom prst="ellipse">
            <a:avLst/>
          </a:prstGeom>
          <a:solidFill>
            <a:srgbClr val="FBE2CB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badge"/>
          <p:cNvSpPr/>
          <p:nvPr/>
        </p:nvSpPr>
        <p:spPr>
          <a:xfrm>
            <a:off x="9736074" y="2788920"/>
            <a:ext cx="1188720" cy="1188720"/>
          </a:xfrm>
          <a:prstGeom prst="ellipse">
            <a:avLst/>
          </a:prstGeom>
          <a:solidFill>
            <a:srgbClr val="E8711E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awning"/>
          <p:cNvSpPr/>
          <p:nvPr/>
        </p:nvSpPr>
        <p:spPr>
          <a:xfrm flipV="1">
            <a:off x="10001250" y="3072384"/>
            <a:ext cx="658368" cy="164592"/>
          </a:xfrm>
          <a:prstGeom prst="trapezoid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9" name="store"/>
          <p:cNvSpPr/>
          <p:nvPr/>
        </p:nvSpPr>
        <p:spPr>
          <a:xfrm>
            <a:off x="10074402" y="3236976"/>
            <a:ext cx="512064" cy="4572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0" name="door"/>
          <p:cNvSpPr/>
          <p:nvPr/>
        </p:nvSpPr>
        <p:spPr>
          <a:xfrm>
            <a:off x="10248138" y="3429000"/>
            <a:ext cx="164592" cy="26517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1" name="tb"/>
          <p:cNvSpPr txBox="1"/>
          <p:nvPr/>
        </p:nvSpPr>
        <p:spPr>
          <a:xfrm>
            <a:off x="9107424" y="4096512"/>
            <a:ext cx="2446020" cy="640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500" b="1" i="0" dirty="0">
                <a:solidFill>
                  <a:srgbClr val="123A5E"/>
                </a:solidFill>
                <a:latin typeface="Calibri"/>
                <a:cs typeface="Calibri"/>
              </a:rPr>
              <a:t>Retail</a:t>
            </a:r>
          </a:p>
        </p:txBody>
      </p:sp>
      <p:sp>
        <p:nvSpPr>
          <p:cNvPr id="52" name="uline"/>
          <p:cNvSpPr/>
          <p:nvPr/>
        </p:nvSpPr>
        <p:spPr>
          <a:xfrm>
            <a:off x="10037826" y="4681728"/>
            <a:ext cx="585216" cy="54864"/>
          </a:xfrm>
          <a:prstGeom prst="round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3" name="tb"/>
          <p:cNvSpPr txBox="1"/>
          <p:nvPr/>
        </p:nvSpPr>
        <p:spPr>
          <a:xfrm>
            <a:off x="9235440" y="4864608"/>
            <a:ext cx="2226564" cy="10515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Venta limitada al stock de cada tienda.</a:t>
            </a:r>
          </a:p>
          <a:p>
            <a:pPr marL="228600" indent="-228600" lvl="0" algn="l">
              <a:lnSpc>
                <a:spcPct val="104000"/>
              </a:lnSpc>
              <a:spcAft>
                <a:spcPts val="260"/>
              </a:spcAft>
              <a:buClr>
                <a:srgbClr val="E8711E"/>
              </a:buClr>
              <a:buFont typeface="Arial"/>
              <a:buChar char="▸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Sin visibilidad del inventario de la 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logoring"/>
          <p:cNvSpPr/>
          <p:nvPr/>
        </p:nvSpPr>
        <p:spPr>
          <a:xfrm>
            <a:off x="10561320" y="164592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ogo"/>
          <p:cNvSpPr/>
          <p:nvPr/>
        </p:nvSpPr>
        <p:spPr>
          <a:xfrm>
            <a:off x="10635157" y="238429"/>
            <a:ext cx="721006" cy="72100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5" name="tb"/>
          <p:cNvSpPr txBox="1"/>
          <p:nvPr/>
        </p:nvSpPr>
        <p:spPr>
          <a:xfrm>
            <a:off x="548640" y="182880"/>
            <a:ext cx="9601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1" i="0" spc="200" dirty="0">
                <a:solidFill>
                  <a:srgbClr val="E8711E"/>
                </a:solidFill>
                <a:latin typeface="Calibri"/>
                <a:cs typeface="Calibri"/>
              </a:rPr>
              <a:t>CUATRO PILARES DE TRABAJO</a:t>
            </a:r>
          </a:p>
        </p:txBody>
      </p:sp>
      <p:sp>
        <p:nvSpPr>
          <p:cNvPr id="6" name="tb"/>
          <p:cNvSpPr txBox="1"/>
          <p:nvPr/>
        </p:nvSpPr>
        <p:spPr>
          <a:xfrm>
            <a:off x="530352" y="457200"/>
            <a:ext cx="9692640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2600" b="1" i="0" dirty="0">
                <a:solidFill>
                  <a:srgbClr val="FFFFFF"/>
                </a:solidFill>
                <a:latin typeface="Calibri"/>
                <a:cs typeface="Calibri"/>
              </a:rPr>
              <a:t>Los 4 Frentes del Programa</a:t>
            </a:r>
          </a:p>
        </p:txBody>
      </p:sp>
      <p:sp>
        <p:nvSpPr>
          <p:cNvPr id="7" name="sp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8" name="rule"/>
          <p:cNvSpPr/>
          <p:nvPr/>
        </p:nvSpPr>
        <p:spPr>
          <a:xfrm>
            <a:off x="0" y="1207008"/>
            <a:ext cx="12192000" cy="4572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pillar"/>
          <p:cNvSpPr/>
          <p:nvPr/>
        </p:nvSpPr>
        <p:spPr>
          <a:xfrm>
            <a:off x="566928" y="1783080"/>
            <a:ext cx="2679192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phead"/>
          <p:cNvSpPr/>
          <p:nvPr/>
        </p:nvSpPr>
        <p:spPr>
          <a:xfrm>
            <a:off x="566928" y="1783080"/>
            <a:ext cx="2679192" cy="1051560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tb"/>
          <p:cNvSpPr txBox="1"/>
          <p:nvPr/>
        </p:nvSpPr>
        <p:spPr>
          <a:xfrm>
            <a:off x="566928" y="1892808"/>
            <a:ext cx="2679192" cy="5029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150" b="1" i="0" spc="180" dirty="0">
                <a:solidFill>
                  <a:srgbClr val="FFFFFF"/>
                </a:solidFill>
                <a:latin typeface="Calibri"/>
                <a:cs typeface="Calibri"/>
              </a:rPr>
              <a:t>PILAR 01</a:t>
            </a:r>
          </a:p>
        </p:txBody>
      </p:sp>
      <p:sp>
        <p:nvSpPr>
          <p:cNvPr id="12" name="tb"/>
          <p:cNvSpPr txBox="1"/>
          <p:nvPr/>
        </p:nvSpPr>
        <p:spPr>
          <a:xfrm>
            <a:off x="676656" y="2240280"/>
            <a:ext cx="2459736" cy="5943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180" b="1" i="0" dirty="0">
                <a:solidFill>
                  <a:srgbClr val="FFFFFF"/>
                </a:solidFill>
                <a:latin typeface="Calibri"/>
                <a:cs typeface="Calibri"/>
              </a:rPr>
              <a:t>Normalizacion Historica de Direcciones</a:t>
            </a:r>
          </a:p>
        </p:txBody>
      </p:sp>
      <p:sp>
        <p:nvSpPr>
          <p:cNvPr id="13" name="tb"/>
          <p:cNvSpPr txBox="1"/>
          <p:nvPr/>
        </p:nvSpPr>
        <p:spPr>
          <a:xfrm>
            <a:off x="713232" y="2971800"/>
            <a:ext cx="2386584" cy="2926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Corregir la base actual de clientes.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Meta: normalizar 35.000 registros.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Duracion: 1 mes.</a:t>
            </a:r>
          </a:p>
        </p:txBody>
      </p:sp>
      <p:sp>
        <p:nvSpPr>
          <p:cNvPr id="14" name="pillar"/>
          <p:cNvSpPr/>
          <p:nvPr/>
        </p:nvSpPr>
        <p:spPr>
          <a:xfrm>
            <a:off x="3364992" y="1783080"/>
            <a:ext cx="2679192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phead"/>
          <p:cNvSpPr/>
          <p:nvPr/>
        </p:nvSpPr>
        <p:spPr>
          <a:xfrm>
            <a:off x="3364992" y="1783080"/>
            <a:ext cx="2679192" cy="1051560"/>
          </a:xfrm>
          <a:prstGeom prst="round2SameRect">
            <a:avLst/>
          </a:prstGeom>
          <a:solidFill>
            <a:srgbClr val="1C5A8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tb"/>
          <p:cNvSpPr txBox="1"/>
          <p:nvPr/>
        </p:nvSpPr>
        <p:spPr>
          <a:xfrm>
            <a:off x="3364992" y="1892808"/>
            <a:ext cx="2679192" cy="5029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150" b="1" i="0" spc="180" dirty="0">
                <a:solidFill>
                  <a:srgbClr val="FFFFFF"/>
                </a:solidFill>
                <a:latin typeface="Calibri"/>
                <a:cs typeface="Calibri"/>
              </a:rPr>
              <a:t>PILAR 02</a:t>
            </a:r>
          </a:p>
        </p:txBody>
      </p:sp>
      <p:sp>
        <p:nvSpPr>
          <p:cNvPr id="17" name="tb"/>
          <p:cNvSpPr txBox="1"/>
          <p:nvPr/>
        </p:nvSpPr>
        <p:spPr>
          <a:xfrm>
            <a:off x="3474720" y="2240280"/>
            <a:ext cx="2459736" cy="5943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180" b="1" i="0" dirty="0">
                <a:solidFill>
                  <a:srgbClr val="FFFFFF"/>
                </a:solidFill>
                <a:latin typeface="Calibri"/>
                <a:cs typeface="Calibri"/>
              </a:rPr>
              <a:t>Captura Correcta desde el Origen</a:t>
            </a:r>
          </a:p>
        </p:txBody>
      </p:sp>
      <p:sp>
        <p:nvSpPr>
          <p:cNvPr id="18" name="tb"/>
          <p:cNvSpPr txBox="1"/>
          <p:nvPr/>
        </p:nvSpPr>
        <p:spPr>
          <a:xfrm>
            <a:off x="3511296" y="2971800"/>
            <a:ext cx="2386584" cy="2926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C5A8C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Formularios estandarizados en Web, App, Carrito, ERP, QR ejecutivos, Eventos y Tiendas.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C5A8C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Resultado: evitar que el problema vuelva a generarse.</a:t>
            </a:r>
          </a:p>
        </p:txBody>
      </p:sp>
      <p:sp>
        <p:nvSpPr>
          <p:cNvPr id="19" name="pillar"/>
          <p:cNvSpPr/>
          <p:nvPr/>
        </p:nvSpPr>
        <p:spPr>
          <a:xfrm>
            <a:off x="6163056" y="1783080"/>
            <a:ext cx="2679192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phead"/>
          <p:cNvSpPr/>
          <p:nvPr/>
        </p:nvSpPr>
        <p:spPr>
          <a:xfrm>
            <a:off x="6163056" y="1783080"/>
            <a:ext cx="2679192" cy="1051560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tb"/>
          <p:cNvSpPr txBox="1"/>
          <p:nvPr/>
        </p:nvSpPr>
        <p:spPr>
          <a:xfrm>
            <a:off x="6163056" y="1892808"/>
            <a:ext cx="2679192" cy="5029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150" b="1" i="0" spc="180" dirty="0">
                <a:solidFill>
                  <a:srgbClr val="FFFFFF"/>
                </a:solidFill>
                <a:latin typeface="Calibri"/>
                <a:cs typeface="Calibri"/>
              </a:rPr>
              <a:t>PILAR 03</a:t>
            </a:r>
          </a:p>
        </p:txBody>
      </p:sp>
      <p:sp>
        <p:nvSpPr>
          <p:cNvPr id="22" name="tb"/>
          <p:cNvSpPr txBox="1"/>
          <p:nvPr/>
        </p:nvSpPr>
        <p:spPr>
          <a:xfrm>
            <a:off x="6272784" y="2240280"/>
            <a:ext cx="2459736" cy="5943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180" b="1" i="0" dirty="0">
                <a:solidFill>
                  <a:srgbClr val="FFFFFF"/>
                </a:solidFill>
                <a:latin typeface="Calibri"/>
                <a:cs typeface="Calibri"/>
              </a:rPr>
              <a:t>IA para Gestion de Incidencias en Ruta</a:t>
            </a:r>
          </a:p>
        </p:txBody>
      </p:sp>
      <p:sp>
        <p:nvSpPr>
          <p:cNvPr id="23" name="tb"/>
          <p:cNvSpPr txBox="1"/>
          <p:nvPr/>
        </p:nvSpPr>
        <p:spPr>
          <a:xfrm>
            <a:off x="6309360" y="2971800"/>
            <a:ext cx="2386584" cy="2926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Agente IA SimpliRoute: contacto automatico, correccion de direcciones, reagendamiento y actualizacion en tiempo real.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Objetivo: reducir entregas fallidas y retornos al CD; mejorar experiencia.</a:t>
            </a:r>
          </a:p>
        </p:txBody>
      </p:sp>
      <p:sp>
        <p:nvSpPr>
          <p:cNvPr id="24" name="pillar"/>
          <p:cNvSpPr/>
          <p:nvPr/>
        </p:nvSpPr>
        <p:spPr>
          <a:xfrm>
            <a:off x="8961120" y="1783080"/>
            <a:ext cx="2679192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phead"/>
          <p:cNvSpPr/>
          <p:nvPr/>
        </p:nvSpPr>
        <p:spPr>
          <a:xfrm>
            <a:off x="8961120" y="1783080"/>
            <a:ext cx="2679192" cy="1051560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tb"/>
          <p:cNvSpPr txBox="1"/>
          <p:nvPr/>
        </p:nvSpPr>
        <p:spPr>
          <a:xfrm>
            <a:off x="8961120" y="1892808"/>
            <a:ext cx="2679192" cy="5029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150" b="1" i="0" spc="180" dirty="0">
                <a:solidFill>
                  <a:srgbClr val="FFFFFF"/>
                </a:solidFill>
                <a:latin typeface="Calibri"/>
                <a:cs typeface="Calibri"/>
              </a:rPr>
              <a:t>PILAR 04</a:t>
            </a:r>
          </a:p>
        </p:txBody>
      </p:sp>
      <p:sp>
        <p:nvSpPr>
          <p:cNvPr id="27" name="tb"/>
          <p:cNvSpPr txBox="1"/>
          <p:nvPr/>
        </p:nvSpPr>
        <p:spPr>
          <a:xfrm>
            <a:off x="9070848" y="2240280"/>
            <a:ext cx="2459736" cy="5943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6000"/>
              </a:lnSpc>
              <a:buNone/>
            </a:pPr>
            <a:r>
              <a:rPr lang="es-ES" sz="1180" b="1" i="0" dirty="0">
                <a:solidFill>
                  <a:srgbClr val="FFFFFF"/>
                </a:solidFill>
                <a:latin typeface="Calibri"/>
                <a:cs typeface="Calibri"/>
              </a:rPr>
              <a:t>Omnicanalidad Retail</a:t>
            </a:r>
          </a:p>
        </p:txBody>
      </p:sp>
      <p:sp>
        <p:nvSpPr>
          <p:cNvPr id="28" name="tb"/>
          <p:cNvSpPr txBox="1"/>
          <p:nvPr/>
        </p:nvSpPr>
        <p:spPr>
          <a:xfrm>
            <a:off x="9107424" y="2971800"/>
            <a:ext cx="2386584" cy="29260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Tiendas venden inventario de toda la red.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Modelo: Cliente &gt; Tienda &gt; Cualquier Bodega &gt; Despacho.</a:t>
            </a:r>
          </a:p>
          <a:p>
            <a:pPr marL="228600" indent="-228600" lvl="0" algn="l">
              <a:lnSpc>
                <a:spcPct val="100000"/>
              </a:lnSpc>
              <a:spcAft>
                <a:spcPts val="28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180" b="0" i="0" dirty="0">
                <a:solidFill>
                  <a:srgbClr val="333333"/>
                </a:solidFill>
                <a:latin typeface="Calibri"/>
                <a:cs typeface="Calibri"/>
              </a:rPr>
              <a:t>Beneficios: mayor disponibilidad, menos ventas perdidas.</a:t>
            </a:r>
          </a:p>
        </p:txBody>
      </p:sp>
      <p:sp>
        <p:nvSpPr>
          <p:cNvPr id="29" name="tb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900" b="0" i="0" dirty="0">
                <a:solidFill>
                  <a:srgbClr val="6B6B6B"/>
                </a:solidFill>
                <a:latin typeface="Calibri"/>
                <a:cs typeface="Calibri"/>
              </a:rPr>
              <a:t>CAV  |  Programa de Transformacion Omnicanal y Ultima Milla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logoring"/>
          <p:cNvSpPr/>
          <p:nvPr/>
        </p:nvSpPr>
        <p:spPr>
          <a:xfrm>
            <a:off x="10561320" y="164592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ogo"/>
          <p:cNvSpPr/>
          <p:nvPr/>
        </p:nvSpPr>
        <p:spPr>
          <a:xfrm>
            <a:off x="10635157" y="238429"/>
            <a:ext cx="721006" cy="72100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5" name="tb"/>
          <p:cNvSpPr txBox="1"/>
          <p:nvPr/>
        </p:nvSpPr>
        <p:spPr>
          <a:xfrm>
            <a:off x="548640" y="182880"/>
            <a:ext cx="9601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1" i="0" spc="200" dirty="0">
                <a:solidFill>
                  <a:srgbClr val="E8711E"/>
                </a:solidFill>
                <a:latin typeface="Calibri"/>
                <a:cs typeface="Calibri"/>
              </a:rPr>
              <a:t>AGENTE IA DE GESTION DE ENTREGAS</a:t>
            </a:r>
          </a:p>
        </p:txBody>
      </p:sp>
      <p:sp>
        <p:nvSpPr>
          <p:cNvPr id="6" name="tb"/>
          <p:cNvSpPr txBox="1"/>
          <p:nvPr/>
        </p:nvSpPr>
        <p:spPr>
          <a:xfrm>
            <a:off x="530352" y="457200"/>
            <a:ext cx="9692640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2600" b="1" i="0" dirty="0">
                <a:solidFill>
                  <a:srgbClr val="FFFFFF"/>
                </a:solidFill>
                <a:latin typeface="Calibri"/>
                <a:cs typeface="Calibri"/>
              </a:rPr>
              <a:t>Caso de Negocio  ·  IA SimpliRoute</a:t>
            </a:r>
          </a:p>
        </p:txBody>
      </p:sp>
      <p:sp>
        <p:nvSpPr>
          <p:cNvPr id="7" name="sp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8" name="rule"/>
          <p:cNvSpPr/>
          <p:nvPr/>
        </p:nvSpPr>
        <p:spPr>
          <a:xfrm>
            <a:off x="0" y="1207008"/>
            <a:ext cx="12192000" cy="4572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sp"/>
          <p:cNvSpPr/>
          <p:nvPr/>
        </p:nvSpPr>
        <p:spPr>
          <a:xfrm>
            <a:off x="566928" y="1737360"/>
            <a:ext cx="350215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p"/>
          <p:cNvSpPr/>
          <p:nvPr/>
        </p:nvSpPr>
        <p:spPr>
          <a:xfrm>
            <a:off x="566928" y="1737360"/>
            <a:ext cx="109728" cy="16916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tb"/>
          <p:cNvSpPr txBox="1"/>
          <p:nvPr/>
        </p:nvSpPr>
        <p:spPr>
          <a:xfrm>
            <a:off x="841248" y="1901952"/>
            <a:ext cx="3044952" cy="4114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00" b="1" i="0" spc="120" dirty="0">
                <a:solidFill>
                  <a:srgbClr val="6B6B6B"/>
                </a:solidFill>
                <a:latin typeface="Calibri"/>
                <a:cs typeface="Calibri"/>
              </a:rPr>
              <a:t>INVERSION</a:t>
            </a:r>
          </a:p>
        </p:txBody>
      </p:sp>
      <p:sp>
        <p:nvSpPr>
          <p:cNvPr id="12" name="tb"/>
          <p:cNvSpPr txBox="1"/>
          <p:nvPr/>
        </p:nvSpPr>
        <p:spPr>
          <a:xfrm>
            <a:off x="822960" y="2267712"/>
            <a:ext cx="3044952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3200" b="1" i="0" dirty="0">
                <a:solidFill>
                  <a:srgbClr val="123A5E"/>
                </a:solidFill>
                <a:latin typeface="Calibri"/>
                <a:cs typeface="Calibri"/>
              </a:rPr>
              <a:t>USD 1.500</a:t>
            </a:r>
          </a:p>
        </p:txBody>
      </p:sp>
      <p:sp>
        <p:nvSpPr>
          <p:cNvPr id="13" name="tb"/>
          <p:cNvSpPr txBox="1"/>
          <p:nvPr/>
        </p:nvSpPr>
        <p:spPr>
          <a:xfrm>
            <a:off x="859536" y="2944368"/>
            <a:ext cx="3044952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/ mes</a:t>
            </a:r>
          </a:p>
        </p:txBody>
      </p:sp>
      <p:sp>
        <p:nvSpPr>
          <p:cNvPr id="14" name="sp"/>
          <p:cNvSpPr/>
          <p:nvPr/>
        </p:nvSpPr>
        <p:spPr>
          <a:xfrm>
            <a:off x="4251960" y="1737360"/>
            <a:ext cx="350215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p"/>
          <p:cNvSpPr/>
          <p:nvPr/>
        </p:nvSpPr>
        <p:spPr>
          <a:xfrm>
            <a:off x="4251960" y="1737360"/>
            <a:ext cx="109728" cy="16916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tb"/>
          <p:cNvSpPr txBox="1"/>
          <p:nvPr/>
        </p:nvSpPr>
        <p:spPr>
          <a:xfrm>
            <a:off x="4526280" y="1901952"/>
            <a:ext cx="3044952" cy="4114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00" b="1" i="0" spc="120" dirty="0">
                <a:solidFill>
                  <a:srgbClr val="6B6B6B"/>
                </a:solidFill>
                <a:latin typeface="Calibri"/>
                <a:cs typeface="Calibri"/>
              </a:rPr>
              <a:t>BENEFICIO ESTIMADO</a:t>
            </a:r>
          </a:p>
        </p:txBody>
      </p:sp>
      <p:sp>
        <p:nvSpPr>
          <p:cNvPr id="17" name="tb"/>
          <p:cNvSpPr txBox="1"/>
          <p:nvPr/>
        </p:nvSpPr>
        <p:spPr>
          <a:xfrm>
            <a:off x="4507992" y="2267712"/>
            <a:ext cx="3044952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3200" b="1" i="0" dirty="0">
                <a:solidFill>
                  <a:srgbClr val="123A5E"/>
                </a:solidFill>
                <a:latin typeface="Calibri"/>
                <a:cs typeface="Calibri"/>
              </a:rPr>
              <a:t>USD 3.500</a:t>
            </a:r>
          </a:p>
        </p:txBody>
      </p:sp>
      <p:sp>
        <p:nvSpPr>
          <p:cNvPr id="18" name="tb"/>
          <p:cNvSpPr txBox="1"/>
          <p:nvPr/>
        </p:nvSpPr>
        <p:spPr>
          <a:xfrm>
            <a:off x="4544568" y="2944368"/>
            <a:ext cx="3044952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/ mes en ahorro</a:t>
            </a:r>
          </a:p>
        </p:txBody>
      </p:sp>
      <p:sp>
        <p:nvSpPr>
          <p:cNvPr id="19" name="sp"/>
          <p:cNvSpPr/>
          <p:nvPr/>
        </p:nvSpPr>
        <p:spPr>
          <a:xfrm>
            <a:off x="7936992" y="1737360"/>
            <a:ext cx="350215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p"/>
          <p:cNvSpPr/>
          <p:nvPr/>
        </p:nvSpPr>
        <p:spPr>
          <a:xfrm>
            <a:off x="7936992" y="1737360"/>
            <a:ext cx="109728" cy="169164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tb"/>
          <p:cNvSpPr txBox="1"/>
          <p:nvPr/>
        </p:nvSpPr>
        <p:spPr>
          <a:xfrm>
            <a:off x="8211312" y="1901952"/>
            <a:ext cx="3044952" cy="4114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00" b="1" i="0" spc="120" dirty="0">
                <a:solidFill>
                  <a:srgbClr val="6B6B6B"/>
                </a:solidFill>
                <a:latin typeface="Calibri"/>
                <a:cs typeface="Calibri"/>
              </a:rPr>
              <a:t>BENEFICIO NETO</a:t>
            </a:r>
          </a:p>
        </p:txBody>
      </p:sp>
      <p:sp>
        <p:nvSpPr>
          <p:cNvPr id="22" name="tb"/>
          <p:cNvSpPr txBox="1"/>
          <p:nvPr/>
        </p:nvSpPr>
        <p:spPr>
          <a:xfrm>
            <a:off x="8193024" y="2267712"/>
            <a:ext cx="3044952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3200" b="1" i="0" dirty="0">
                <a:solidFill>
                  <a:srgbClr val="E8711E"/>
                </a:solidFill>
                <a:latin typeface="Calibri"/>
                <a:cs typeface="Calibri"/>
              </a:rPr>
              <a:t>USD 2.000</a:t>
            </a:r>
          </a:p>
        </p:txBody>
      </p:sp>
      <p:sp>
        <p:nvSpPr>
          <p:cNvPr id="23" name="tb"/>
          <p:cNvSpPr txBox="1"/>
          <p:nvPr/>
        </p:nvSpPr>
        <p:spPr>
          <a:xfrm>
            <a:off x="8229600" y="2944368"/>
            <a:ext cx="3044952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/ mes  ·  ROI ~133%</a:t>
            </a:r>
          </a:p>
        </p:txBody>
      </p:sp>
      <p:sp>
        <p:nvSpPr>
          <p:cNvPr id="24" name="sp"/>
          <p:cNvSpPr/>
          <p:nvPr/>
        </p:nvSpPr>
        <p:spPr>
          <a:xfrm>
            <a:off x="566928" y="3703320"/>
            <a:ext cx="5486400" cy="224028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CDCDC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5" name="tb"/>
          <p:cNvSpPr txBox="1"/>
          <p:nvPr/>
        </p:nvSpPr>
        <p:spPr>
          <a:xfrm>
            <a:off x="795528" y="3813048"/>
            <a:ext cx="5029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250" b="1" i="0" dirty="0">
                <a:solidFill>
                  <a:srgbClr val="123A5E"/>
                </a:solidFill>
                <a:latin typeface="Calibri"/>
                <a:cs typeface="Calibri"/>
              </a:rPr>
              <a:t>Comparativo mensual (USD)</a:t>
            </a:r>
          </a:p>
        </p:txBody>
      </p:sp>
      <p:sp>
        <p:nvSpPr>
          <p:cNvPr id="26" name="sp"/>
          <p:cNvSpPr/>
          <p:nvPr/>
        </p:nvSpPr>
        <p:spPr>
          <a:xfrm>
            <a:off x="886968" y="5440680"/>
            <a:ext cx="4846320" cy="16459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sp"/>
          <p:cNvSpPr/>
          <p:nvPr/>
        </p:nvSpPr>
        <p:spPr>
          <a:xfrm>
            <a:off x="1069848" y="4911635"/>
            <a:ext cx="1051560" cy="529045"/>
          </a:xfrm>
          <a:prstGeom prst="round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8" name="tb"/>
          <p:cNvSpPr txBox="1"/>
          <p:nvPr/>
        </p:nvSpPr>
        <p:spPr>
          <a:xfrm>
            <a:off x="978408" y="4527587"/>
            <a:ext cx="123444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200" b="1" i="0" dirty="0">
                <a:solidFill>
                  <a:srgbClr val="333333"/>
                </a:solidFill>
                <a:latin typeface="Calibri"/>
                <a:cs typeface="Calibri"/>
              </a:rPr>
              <a:t>1.500</a:t>
            </a:r>
          </a:p>
        </p:txBody>
      </p:sp>
      <p:sp>
        <p:nvSpPr>
          <p:cNvPr id="29" name="tb"/>
          <p:cNvSpPr txBox="1"/>
          <p:nvPr/>
        </p:nvSpPr>
        <p:spPr>
          <a:xfrm>
            <a:off x="932688" y="5495544"/>
            <a:ext cx="132588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0" i="0" dirty="0">
                <a:solidFill>
                  <a:srgbClr val="6B6B6B"/>
                </a:solidFill>
                <a:latin typeface="Calibri"/>
                <a:cs typeface="Calibri"/>
              </a:rPr>
              <a:t>Costo</a:t>
            </a:r>
          </a:p>
        </p:txBody>
      </p:sp>
      <p:sp>
        <p:nvSpPr>
          <p:cNvPr id="30" name="sp"/>
          <p:cNvSpPr/>
          <p:nvPr/>
        </p:nvSpPr>
        <p:spPr>
          <a:xfrm>
            <a:off x="2688336" y="4206240"/>
            <a:ext cx="1051560" cy="1234440"/>
          </a:xfrm>
          <a:prstGeom prst="round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1" name="tb"/>
          <p:cNvSpPr txBox="1"/>
          <p:nvPr/>
        </p:nvSpPr>
        <p:spPr>
          <a:xfrm>
            <a:off x="2596896" y="3822192"/>
            <a:ext cx="123444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200" b="1" i="0" dirty="0">
                <a:solidFill>
                  <a:srgbClr val="333333"/>
                </a:solidFill>
                <a:latin typeface="Calibri"/>
                <a:cs typeface="Calibri"/>
              </a:rPr>
              <a:t>3.500</a:t>
            </a:r>
          </a:p>
        </p:txBody>
      </p:sp>
      <p:sp>
        <p:nvSpPr>
          <p:cNvPr id="32" name="tb"/>
          <p:cNvSpPr txBox="1"/>
          <p:nvPr/>
        </p:nvSpPr>
        <p:spPr>
          <a:xfrm>
            <a:off x="2551176" y="5495544"/>
            <a:ext cx="132588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0" i="0" dirty="0">
                <a:solidFill>
                  <a:srgbClr val="6B6B6B"/>
                </a:solidFill>
                <a:latin typeface="Calibri"/>
                <a:cs typeface="Calibri"/>
              </a:rPr>
              <a:t>Ahorro</a:t>
            </a:r>
          </a:p>
        </p:txBody>
      </p:sp>
      <p:sp>
        <p:nvSpPr>
          <p:cNvPr id="33" name="sp"/>
          <p:cNvSpPr/>
          <p:nvPr/>
        </p:nvSpPr>
        <p:spPr>
          <a:xfrm>
            <a:off x="4306824" y="4735286"/>
            <a:ext cx="1051560" cy="705394"/>
          </a:xfrm>
          <a:prstGeom prst="round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tb"/>
          <p:cNvSpPr txBox="1"/>
          <p:nvPr/>
        </p:nvSpPr>
        <p:spPr>
          <a:xfrm>
            <a:off x="4215384" y="4351238"/>
            <a:ext cx="123444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200" b="1" i="0" dirty="0">
                <a:solidFill>
                  <a:srgbClr val="333333"/>
                </a:solidFill>
                <a:latin typeface="Calibri"/>
                <a:cs typeface="Calibri"/>
              </a:rPr>
              <a:t>2.000</a:t>
            </a:r>
          </a:p>
        </p:txBody>
      </p:sp>
      <p:sp>
        <p:nvSpPr>
          <p:cNvPr id="35" name="tb"/>
          <p:cNvSpPr txBox="1"/>
          <p:nvPr/>
        </p:nvSpPr>
        <p:spPr>
          <a:xfrm>
            <a:off x="4169664" y="5495544"/>
            <a:ext cx="132588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0" i="0" dirty="0">
                <a:solidFill>
                  <a:srgbClr val="6B6B6B"/>
                </a:solidFill>
                <a:latin typeface="Calibri"/>
                <a:cs typeface="Calibri"/>
              </a:rPr>
              <a:t>Beneficio Neto</a:t>
            </a:r>
          </a:p>
        </p:txBody>
      </p:sp>
      <p:sp>
        <p:nvSpPr>
          <p:cNvPr id="36" name="sp"/>
          <p:cNvSpPr/>
          <p:nvPr/>
        </p:nvSpPr>
        <p:spPr>
          <a:xfrm>
            <a:off x="6355080" y="3703320"/>
            <a:ext cx="5285232" cy="2240280"/>
          </a:xfrm>
          <a:prstGeom prst="roundRect">
            <a:avLst/>
          </a:prstGeom>
          <a:solidFill>
            <a:srgbClr val="123A5E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tb"/>
          <p:cNvSpPr txBox="1"/>
          <p:nvPr/>
        </p:nvSpPr>
        <p:spPr>
          <a:xfrm>
            <a:off x="6647688" y="3867912"/>
            <a:ext cx="4828032" cy="41148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200" b="1" i="0" spc="160" dirty="0">
                <a:solidFill>
                  <a:srgbClr val="E8711E"/>
                </a:solidFill>
                <a:latin typeface="Calibri"/>
                <a:cs typeface="Calibri"/>
              </a:rPr>
              <a:t>BENEFICIOS ADICIONALES</a:t>
            </a:r>
          </a:p>
        </p:txBody>
      </p:sp>
      <p:sp>
        <p:nvSpPr>
          <p:cNvPr id="38" name="tb"/>
          <p:cNvSpPr txBox="1"/>
          <p:nvPr/>
        </p:nvSpPr>
        <p:spPr>
          <a:xfrm>
            <a:off x="6629400" y="4306824"/>
            <a:ext cx="4782312" cy="1508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spcAft>
                <a:spcPts val="300"/>
              </a:spcAft>
              <a:buClr>
                <a:srgbClr val="E8711E"/>
              </a:buClr>
              <a:buFont typeface="Arial"/>
              <a:buChar char="✔"/>
            </a:pPr>
            <a:r>
              <a:rPr lang="es-ES" sz="1300" b="0" i="0" dirty="0">
                <a:solidFill>
                  <a:srgbClr val="FFFFFF"/>
                </a:solidFill>
                <a:latin typeface="Calibri"/>
                <a:cs typeface="Calibri"/>
              </a:rPr>
              <a:t>Menor carga operativa.</a:t>
            </a:r>
          </a:p>
          <a:p>
            <a:pPr marL="228600" indent="-228600" lvl="0" algn="l">
              <a:spcAft>
                <a:spcPts val="300"/>
              </a:spcAft>
              <a:buClr>
                <a:srgbClr val="E8711E"/>
              </a:buClr>
              <a:buFont typeface="Arial"/>
              <a:buChar char="✔"/>
            </a:pPr>
            <a:r>
              <a:rPr lang="es-ES" sz="1300" b="0" i="0" dirty="0">
                <a:solidFill>
                  <a:srgbClr val="FFFFFF"/>
                </a:solidFill>
                <a:latin typeface="Calibri"/>
                <a:cs typeface="Calibri"/>
              </a:rPr>
              <a:t>Menos devoluciones.</a:t>
            </a:r>
          </a:p>
          <a:p>
            <a:pPr marL="228600" indent="-228600" lvl="0" algn="l">
              <a:spcAft>
                <a:spcPts val="300"/>
              </a:spcAft>
              <a:buClr>
                <a:srgbClr val="E8711E"/>
              </a:buClr>
              <a:buFont typeface="Arial"/>
              <a:buChar char="✔"/>
            </a:pPr>
            <a:r>
              <a:rPr lang="es-ES" sz="1300" b="0" i="0" dirty="0">
                <a:solidFill>
                  <a:srgbClr val="FFFFFF"/>
                </a:solidFill>
                <a:latin typeface="Calibri"/>
                <a:cs typeface="Calibri"/>
              </a:rPr>
              <a:t>Mejor NPS.</a:t>
            </a:r>
          </a:p>
          <a:p>
            <a:pPr marL="228600" indent="-228600" lvl="0" algn="l">
              <a:spcAft>
                <a:spcPts val="300"/>
              </a:spcAft>
              <a:buClr>
                <a:srgbClr val="E8711E"/>
              </a:buClr>
              <a:buFont typeface="Arial"/>
              <a:buChar char="✔"/>
            </a:pPr>
            <a:r>
              <a:rPr lang="es-ES" sz="1300" b="0" i="0" dirty="0">
                <a:solidFill>
                  <a:srgbClr val="FFFFFF"/>
                </a:solidFill>
                <a:latin typeface="Calibri"/>
                <a:cs typeface="Calibri"/>
              </a:rPr>
              <a:t>Mayor satisfaccion de clientes.</a:t>
            </a:r>
          </a:p>
        </p:txBody>
      </p:sp>
      <p:sp>
        <p:nvSpPr>
          <p:cNvPr id="39" name="tb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900" b="0" i="0" dirty="0">
                <a:solidFill>
                  <a:srgbClr val="6B6B6B"/>
                </a:solidFill>
                <a:latin typeface="Calibri"/>
                <a:cs typeface="Calibri"/>
              </a:rPr>
              <a:t>CAV  |  Programa de Transformacion Omnicanal y Ultima Milla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logoring"/>
          <p:cNvSpPr/>
          <p:nvPr/>
        </p:nvSpPr>
        <p:spPr>
          <a:xfrm>
            <a:off x="10561320" y="164592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ogo"/>
          <p:cNvSpPr/>
          <p:nvPr/>
        </p:nvSpPr>
        <p:spPr>
          <a:xfrm>
            <a:off x="10635157" y="238429"/>
            <a:ext cx="721006" cy="72100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5" name="tb"/>
          <p:cNvSpPr txBox="1"/>
          <p:nvPr/>
        </p:nvSpPr>
        <p:spPr>
          <a:xfrm>
            <a:off x="548640" y="182880"/>
            <a:ext cx="9601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1" i="0" spc="200" dirty="0">
                <a:solidFill>
                  <a:srgbClr val="E8711E"/>
                </a:solidFill>
                <a:latin typeface="Calibri"/>
                <a:cs typeface="Calibri"/>
              </a:rPr>
              <a:t>HOJA DE RUTA DEL PROGRAMA</a:t>
            </a:r>
          </a:p>
        </p:txBody>
      </p:sp>
      <p:sp>
        <p:nvSpPr>
          <p:cNvPr id="6" name="tb"/>
          <p:cNvSpPr txBox="1"/>
          <p:nvPr/>
        </p:nvSpPr>
        <p:spPr>
          <a:xfrm>
            <a:off x="530352" y="457200"/>
            <a:ext cx="9692640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2600" b="1" i="0" dirty="0">
                <a:solidFill>
                  <a:srgbClr val="FFFFFF"/>
                </a:solidFill>
                <a:latin typeface="Calibri"/>
                <a:cs typeface="Calibri"/>
              </a:rPr>
              <a:t>Roadmap</a:t>
            </a:r>
          </a:p>
        </p:txBody>
      </p:sp>
      <p:sp>
        <p:nvSpPr>
          <p:cNvPr id="7" name="sp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8" name="rule"/>
          <p:cNvSpPr/>
          <p:nvPr/>
        </p:nvSpPr>
        <p:spPr>
          <a:xfrm>
            <a:off x="0" y="1207008"/>
            <a:ext cx="12192000" cy="4572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sp"/>
          <p:cNvSpPr/>
          <p:nvPr/>
        </p:nvSpPr>
        <p:spPr>
          <a:xfrm>
            <a:off x="822960" y="3429000"/>
            <a:ext cx="10515600" cy="4572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sp"/>
          <p:cNvSpPr/>
          <p:nvPr/>
        </p:nvSpPr>
        <p:spPr>
          <a:xfrm>
            <a:off x="1584960" y="3218688"/>
            <a:ext cx="457200" cy="457200"/>
          </a:xfrm>
          <a:prstGeom prst="ellipse">
            <a:avLst/>
          </a:prstGeom>
          <a:solidFill>
            <a:srgbClr val="123A5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1" name="sp"/>
          <p:cNvSpPr/>
          <p:nvPr/>
        </p:nvSpPr>
        <p:spPr>
          <a:xfrm>
            <a:off x="1051560" y="173736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b"/>
          <p:cNvSpPr txBox="1"/>
          <p:nvPr/>
        </p:nvSpPr>
        <p:spPr>
          <a:xfrm>
            <a:off x="1051560" y="186537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123A5E"/>
                </a:solidFill>
                <a:latin typeface="Calibri"/>
                <a:cs typeface="Calibri"/>
              </a:rPr>
              <a:t>MAY - JUN</a:t>
            </a:r>
          </a:p>
        </p:txBody>
      </p:sp>
      <p:sp>
        <p:nvSpPr>
          <p:cNvPr id="13" name="tb"/>
          <p:cNvSpPr txBox="1"/>
          <p:nvPr/>
        </p:nvSpPr>
        <p:spPr>
          <a:xfrm>
            <a:off x="1106424" y="221284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Evaluacion IA SimpliRoute</a:t>
            </a:r>
          </a:p>
        </p:txBody>
      </p:sp>
      <p:sp>
        <p:nvSpPr>
          <p:cNvPr id="14" name="sp"/>
          <p:cNvSpPr/>
          <p:nvPr/>
        </p:nvSpPr>
        <p:spPr>
          <a:xfrm>
            <a:off x="1804416" y="3108960"/>
            <a:ext cx="18288" cy="3200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sp"/>
          <p:cNvSpPr/>
          <p:nvPr/>
        </p:nvSpPr>
        <p:spPr>
          <a:xfrm>
            <a:off x="3291840" y="3218688"/>
            <a:ext cx="457200" cy="457200"/>
          </a:xfrm>
          <a:prstGeom prst="ellipse">
            <a:avLst/>
          </a:prstGeom>
          <a:solidFill>
            <a:srgbClr val="123A5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6" name="sp"/>
          <p:cNvSpPr/>
          <p:nvPr/>
        </p:nvSpPr>
        <p:spPr>
          <a:xfrm>
            <a:off x="3511296" y="3429000"/>
            <a:ext cx="18288" cy="3200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sp"/>
          <p:cNvSpPr/>
          <p:nvPr/>
        </p:nvSpPr>
        <p:spPr>
          <a:xfrm>
            <a:off x="2758440" y="374904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b"/>
          <p:cNvSpPr txBox="1"/>
          <p:nvPr/>
        </p:nvSpPr>
        <p:spPr>
          <a:xfrm>
            <a:off x="2758440" y="387705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123A5E"/>
                </a:solidFill>
                <a:latin typeface="Calibri"/>
                <a:cs typeface="Calibri"/>
              </a:rPr>
              <a:t>JUNIO</a:t>
            </a:r>
          </a:p>
        </p:txBody>
      </p:sp>
      <p:sp>
        <p:nvSpPr>
          <p:cNvPr id="19" name="tb"/>
          <p:cNvSpPr txBox="1"/>
          <p:nvPr/>
        </p:nvSpPr>
        <p:spPr>
          <a:xfrm>
            <a:off x="2813304" y="422452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Correccion masiva base de clientes</a:t>
            </a:r>
          </a:p>
        </p:txBody>
      </p:sp>
      <p:sp>
        <p:nvSpPr>
          <p:cNvPr id="20" name="sp"/>
          <p:cNvSpPr/>
          <p:nvPr/>
        </p:nvSpPr>
        <p:spPr>
          <a:xfrm>
            <a:off x="4998720" y="3218688"/>
            <a:ext cx="457200" cy="457200"/>
          </a:xfrm>
          <a:prstGeom prst="ellipse">
            <a:avLst/>
          </a:prstGeom>
          <a:solidFill>
            <a:srgbClr val="1C5A8C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1" name="sp"/>
          <p:cNvSpPr/>
          <p:nvPr/>
        </p:nvSpPr>
        <p:spPr>
          <a:xfrm>
            <a:off x="4465320" y="173736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b"/>
          <p:cNvSpPr txBox="1"/>
          <p:nvPr/>
        </p:nvSpPr>
        <p:spPr>
          <a:xfrm>
            <a:off x="4465320" y="186537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1C5A8C"/>
                </a:solidFill>
                <a:latin typeface="Calibri"/>
                <a:cs typeface="Calibri"/>
              </a:rPr>
              <a:t>JUN - JUL</a:t>
            </a:r>
          </a:p>
        </p:txBody>
      </p:sp>
      <p:sp>
        <p:nvSpPr>
          <p:cNvPr id="23" name="tb"/>
          <p:cNvSpPr txBox="1"/>
          <p:nvPr/>
        </p:nvSpPr>
        <p:spPr>
          <a:xfrm>
            <a:off x="4520184" y="221284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Desarrollo formularios normalizados</a:t>
            </a:r>
          </a:p>
        </p:txBody>
      </p:sp>
      <p:sp>
        <p:nvSpPr>
          <p:cNvPr id="24" name="sp"/>
          <p:cNvSpPr/>
          <p:nvPr/>
        </p:nvSpPr>
        <p:spPr>
          <a:xfrm>
            <a:off x="5218176" y="3108960"/>
            <a:ext cx="18288" cy="320040"/>
          </a:xfrm>
          <a:prstGeom prst="rect">
            <a:avLst/>
          </a:prstGeom>
          <a:solidFill>
            <a:srgbClr val="1C5A8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sp"/>
          <p:cNvSpPr/>
          <p:nvPr/>
        </p:nvSpPr>
        <p:spPr>
          <a:xfrm>
            <a:off x="6705600" y="3218688"/>
            <a:ext cx="457200" cy="457200"/>
          </a:xfrm>
          <a:prstGeom prst="ellipse">
            <a:avLst/>
          </a:prstGeom>
          <a:solidFill>
            <a:srgbClr val="1C5A8C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26" name="sp"/>
          <p:cNvSpPr/>
          <p:nvPr/>
        </p:nvSpPr>
        <p:spPr>
          <a:xfrm>
            <a:off x="6925056" y="3429000"/>
            <a:ext cx="18288" cy="320040"/>
          </a:xfrm>
          <a:prstGeom prst="rect">
            <a:avLst/>
          </a:prstGeom>
          <a:solidFill>
            <a:srgbClr val="1C5A8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sp"/>
          <p:cNvSpPr/>
          <p:nvPr/>
        </p:nvSpPr>
        <p:spPr>
          <a:xfrm>
            <a:off x="6172200" y="374904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b"/>
          <p:cNvSpPr txBox="1"/>
          <p:nvPr/>
        </p:nvSpPr>
        <p:spPr>
          <a:xfrm>
            <a:off x="6172200" y="387705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1C5A8C"/>
                </a:solidFill>
                <a:latin typeface="Calibri"/>
                <a:cs typeface="Calibri"/>
              </a:rPr>
              <a:t>JULIO</a:t>
            </a:r>
          </a:p>
        </p:txBody>
      </p:sp>
      <p:sp>
        <p:nvSpPr>
          <p:cNvPr id="29" name="tb"/>
          <p:cNvSpPr txBox="1"/>
          <p:nvPr/>
        </p:nvSpPr>
        <p:spPr>
          <a:xfrm>
            <a:off x="6227064" y="422452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Implementacion Agente IA</a:t>
            </a:r>
          </a:p>
        </p:txBody>
      </p:sp>
      <p:sp>
        <p:nvSpPr>
          <p:cNvPr id="30" name="sp"/>
          <p:cNvSpPr/>
          <p:nvPr/>
        </p:nvSpPr>
        <p:spPr>
          <a:xfrm>
            <a:off x="8412480" y="3218688"/>
            <a:ext cx="457200" cy="457200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~</a:t>
            </a:r>
          </a:p>
        </p:txBody>
      </p:sp>
      <p:sp>
        <p:nvSpPr>
          <p:cNvPr id="31" name="sp"/>
          <p:cNvSpPr/>
          <p:nvPr/>
        </p:nvSpPr>
        <p:spPr>
          <a:xfrm>
            <a:off x="7879080" y="173736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tb"/>
          <p:cNvSpPr txBox="1"/>
          <p:nvPr/>
        </p:nvSpPr>
        <p:spPr>
          <a:xfrm>
            <a:off x="7879080" y="186537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E8711E"/>
                </a:solidFill>
                <a:latin typeface="Calibri"/>
                <a:cs typeface="Calibri"/>
              </a:rPr>
              <a:t>AGO - SEP</a:t>
            </a:r>
          </a:p>
        </p:txBody>
      </p:sp>
      <p:sp>
        <p:nvSpPr>
          <p:cNvPr id="33" name="tb"/>
          <p:cNvSpPr txBox="1"/>
          <p:nvPr/>
        </p:nvSpPr>
        <p:spPr>
          <a:xfrm>
            <a:off x="7933944" y="221284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Expansion Same Day RM</a:t>
            </a:r>
          </a:p>
        </p:txBody>
      </p:sp>
      <p:sp>
        <p:nvSpPr>
          <p:cNvPr id="34" name="sp"/>
          <p:cNvSpPr/>
          <p:nvPr/>
        </p:nvSpPr>
        <p:spPr>
          <a:xfrm>
            <a:off x="8631936" y="3108960"/>
            <a:ext cx="18288" cy="32004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5" name="sp"/>
          <p:cNvSpPr/>
          <p:nvPr/>
        </p:nvSpPr>
        <p:spPr>
          <a:xfrm>
            <a:off x="10119360" y="3218688"/>
            <a:ext cx="457200" cy="457200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~</a:t>
            </a:r>
          </a:p>
        </p:txBody>
      </p:sp>
      <p:sp>
        <p:nvSpPr>
          <p:cNvPr id="36" name="sp"/>
          <p:cNvSpPr/>
          <p:nvPr/>
        </p:nvSpPr>
        <p:spPr>
          <a:xfrm>
            <a:off x="10338816" y="3429000"/>
            <a:ext cx="18288" cy="32004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sp"/>
          <p:cNvSpPr/>
          <p:nvPr/>
        </p:nvSpPr>
        <p:spPr>
          <a:xfrm>
            <a:off x="9585960" y="3749040"/>
            <a:ext cx="1524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b"/>
          <p:cNvSpPr txBox="1"/>
          <p:nvPr/>
        </p:nvSpPr>
        <p:spPr>
          <a:xfrm>
            <a:off x="9585960" y="3877056"/>
            <a:ext cx="15240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050" b="1" i="0" dirty="0">
                <a:solidFill>
                  <a:srgbClr val="E8711E"/>
                </a:solidFill>
                <a:latin typeface="Calibri"/>
                <a:cs typeface="Calibri"/>
              </a:rPr>
              <a:t>SEP - OCT</a:t>
            </a:r>
          </a:p>
        </p:txBody>
      </p:sp>
      <p:sp>
        <p:nvSpPr>
          <p:cNvPr id="39" name="tb"/>
          <p:cNvSpPr txBox="1"/>
          <p:nvPr/>
        </p:nvSpPr>
        <p:spPr>
          <a:xfrm>
            <a:off x="9640824" y="4224528"/>
            <a:ext cx="1414272" cy="8229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ctr">
              <a:lnSpc>
                <a:spcPct val="98000"/>
              </a:lnSpc>
              <a:buNone/>
            </a:pPr>
            <a:r>
              <a:rPr lang="es-ES" sz="1150" b="0" i="0" dirty="0">
                <a:solidFill>
                  <a:srgbClr val="333333"/>
                </a:solidFill>
                <a:latin typeface="Calibri"/>
                <a:cs typeface="Calibri"/>
              </a:rPr>
              <a:t>Proyecto Omnicanalidad Retail</a:t>
            </a:r>
          </a:p>
        </p:txBody>
      </p:sp>
      <p:sp>
        <p:nvSpPr>
          <p:cNvPr id="40" name="sp"/>
          <p:cNvSpPr/>
          <p:nvPr/>
        </p:nvSpPr>
        <p:spPr>
          <a:xfrm>
            <a:off x="566928" y="5897880"/>
            <a:ext cx="256032" cy="256032"/>
          </a:xfrm>
          <a:prstGeom prst="ellipse">
            <a:avLst/>
          </a:prstGeom>
          <a:solidFill>
            <a:srgbClr val="123A5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tb"/>
          <p:cNvSpPr txBox="1"/>
          <p:nvPr/>
        </p:nvSpPr>
        <p:spPr>
          <a:xfrm>
            <a:off x="868680" y="5852160"/>
            <a:ext cx="2743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0" i="0" dirty="0">
                <a:solidFill>
                  <a:srgbClr val="6B6B6B"/>
                </a:solidFill>
                <a:latin typeface="Calibri"/>
                <a:cs typeface="Calibri"/>
              </a:rPr>
              <a:t>Completado</a:t>
            </a:r>
          </a:p>
        </p:txBody>
      </p:sp>
      <p:sp>
        <p:nvSpPr>
          <p:cNvPr id="42" name="sp"/>
          <p:cNvSpPr/>
          <p:nvPr/>
        </p:nvSpPr>
        <p:spPr>
          <a:xfrm>
            <a:off x="2468880" y="5897880"/>
            <a:ext cx="256032" cy="256032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3" name="tb"/>
          <p:cNvSpPr txBox="1"/>
          <p:nvPr/>
        </p:nvSpPr>
        <p:spPr>
          <a:xfrm>
            <a:off x="2770632" y="5852160"/>
            <a:ext cx="2743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0" i="0" dirty="0">
                <a:solidFill>
                  <a:srgbClr val="6B6B6B"/>
                </a:solidFill>
                <a:latin typeface="Calibri"/>
                <a:cs typeface="Calibri"/>
              </a:rPr>
              <a:t>En curso / planificado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logoring"/>
          <p:cNvSpPr/>
          <p:nvPr/>
        </p:nvSpPr>
        <p:spPr>
          <a:xfrm>
            <a:off x="10561320" y="164592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ogo"/>
          <p:cNvSpPr/>
          <p:nvPr/>
        </p:nvSpPr>
        <p:spPr>
          <a:xfrm>
            <a:off x="10635157" y="238429"/>
            <a:ext cx="721006" cy="72100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spc="120" dirty="0">
                <a:solidFill>
                  <a:srgbClr val="FFFFFF"/>
                </a:solidFill>
                <a:latin typeface="Calibri"/>
                <a:cs typeface="Calibri"/>
              </a:rPr>
              <a:t>CAV</a:t>
            </a:r>
          </a:p>
        </p:txBody>
      </p:sp>
      <p:sp>
        <p:nvSpPr>
          <p:cNvPr id="5" name="tb"/>
          <p:cNvSpPr txBox="1"/>
          <p:nvPr/>
        </p:nvSpPr>
        <p:spPr>
          <a:xfrm>
            <a:off x="548640" y="182880"/>
            <a:ext cx="960120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050" b="1" i="0" spc="200" dirty="0">
                <a:solidFill>
                  <a:srgbClr val="E8711E"/>
                </a:solidFill>
                <a:latin typeface="Calibri"/>
                <a:cs typeface="Calibri"/>
              </a:rPr>
              <a:t>RESULTADOS EN CUATRO DIMENSIONES</a:t>
            </a:r>
          </a:p>
        </p:txBody>
      </p:sp>
      <p:sp>
        <p:nvSpPr>
          <p:cNvPr id="6" name="tb"/>
          <p:cNvSpPr txBox="1"/>
          <p:nvPr/>
        </p:nvSpPr>
        <p:spPr>
          <a:xfrm>
            <a:off x="530352" y="457200"/>
            <a:ext cx="9692640" cy="7315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2600" b="1" i="0" dirty="0">
                <a:solidFill>
                  <a:srgbClr val="FFFFFF"/>
                </a:solidFill>
                <a:latin typeface="Calibri"/>
                <a:cs typeface="Calibri"/>
              </a:rPr>
              <a:t>Impacto Esperado</a:t>
            </a:r>
          </a:p>
        </p:txBody>
      </p:sp>
      <p:sp>
        <p:nvSpPr>
          <p:cNvPr id="7" name="sp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8" name="rule"/>
          <p:cNvSpPr/>
          <p:nvPr/>
        </p:nvSpPr>
        <p:spPr>
          <a:xfrm>
            <a:off x="0" y="1207008"/>
            <a:ext cx="12192000" cy="4572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sp"/>
          <p:cNvSpPr/>
          <p:nvPr/>
        </p:nvSpPr>
        <p:spPr>
          <a:xfrm>
            <a:off x="566928" y="1737360"/>
            <a:ext cx="2679192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p"/>
          <p:cNvSpPr/>
          <p:nvPr/>
        </p:nvSpPr>
        <p:spPr>
          <a:xfrm>
            <a:off x="566928" y="1737360"/>
            <a:ext cx="2679192" cy="640080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Operacion</a:t>
            </a:r>
          </a:p>
        </p:txBody>
      </p:sp>
      <p:sp>
        <p:nvSpPr>
          <p:cNvPr id="11" name="tb"/>
          <p:cNvSpPr txBox="1"/>
          <p:nvPr/>
        </p:nvSpPr>
        <p:spPr>
          <a:xfrm>
            <a:off x="731520" y="2514600"/>
            <a:ext cx="2350008" cy="16002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Menos entregas fallidas.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Menos reprocesos.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Menos retornos al CD.</a:t>
            </a:r>
          </a:p>
        </p:txBody>
      </p:sp>
      <p:sp>
        <p:nvSpPr>
          <p:cNvPr id="12" name="sp"/>
          <p:cNvSpPr/>
          <p:nvPr/>
        </p:nvSpPr>
        <p:spPr>
          <a:xfrm>
            <a:off x="3364992" y="1737360"/>
            <a:ext cx="2679192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p"/>
          <p:cNvSpPr/>
          <p:nvPr/>
        </p:nvSpPr>
        <p:spPr>
          <a:xfrm>
            <a:off x="3364992" y="1737360"/>
            <a:ext cx="2679192" cy="640080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Cliente</a:t>
            </a:r>
          </a:p>
        </p:txBody>
      </p:sp>
      <p:sp>
        <p:nvSpPr>
          <p:cNvPr id="14" name="tb"/>
          <p:cNvSpPr txBox="1"/>
          <p:nvPr/>
        </p:nvSpPr>
        <p:spPr>
          <a:xfrm>
            <a:off x="3529584" y="2514600"/>
            <a:ext cx="2350008" cy="16002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Direcciones correctas.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Entregas mas rapidas.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Mejor experiencia de compra.</a:t>
            </a:r>
          </a:p>
        </p:txBody>
      </p:sp>
      <p:sp>
        <p:nvSpPr>
          <p:cNvPr id="15" name="sp"/>
          <p:cNvSpPr/>
          <p:nvPr/>
        </p:nvSpPr>
        <p:spPr>
          <a:xfrm>
            <a:off x="6163056" y="1737360"/>
            <a:ext cx="2679192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p"/>
          <p:cNvSpPr/>
          <p:nvPr/>
        </p:nvSpPr>
        <p:spPr>
          <a:xfrm>
            <a:off x="6163056" y="1737360"/>
            <a:ext cx="2679192" cy="640080"/>
          </a:xfrm>
          <a:prstGeom prst="round2SameRect">
            <a:avLst/>
          </a:prstGeom>
          <a:solidFill>
            <a:srgbClr val="123A5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Comercial</a:t>
            </a:r>
          </a:p>
        </p:txBody>
      </p:sp>
      <p:sp>
        <p:nvSpPr>
          <p:cNvPr id="17" name="tb"/>
          <p:cNvSpPr txBox="1"/>
          <p:nvPr/>
        </p:nvSpPr>
        <p:spPr>
          <a:xfrm>
            <a:off x="6327648" y="2514600"/>
            <a:ext cx="2350008" cy="16002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Mas ventas.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Mayor disponibilidad de inventario.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123A5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Omnicanalidad.</a:t>
            </a:r>
          </a:p>
        </p:txBody>
      </p:sp>
      <p:sp>
        <p:nvSpPr>
          <p:cNvPr id="18" name="sp"/>
          <p:cNvSpPr/>
          <p:nvPr/>
        </p:nvSpPr>
        <p:spPr>
          <a:xfrm>
            <a:off x="8961120" y="1737360"/>
            <a:ext cx="2679192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p"/>
          <p:cNvSpPr/>
          <p:nvPr/>
        </p:nvSpPr>
        <p:spPr>
          <a:xfrm>
            <a:off x="8961120" y="1737360"/>
            <a:ext cx="2679192" cy="640080"/>
          </a:xfrm>
          <a:prstGeom prst="round2SameRect">
            <a:avLst/>
          </a:prstGeom>
          <a:solidFill>
            <a:srgbClr val="E8711E"/>
          </a:solidFill>
          <a:ln>
            <a:noFill/>
          </a:ln>
        </p:spPr>
        <p:txBody>
          <a:bodyPr wrap="square" anchor="ctr" lIns="73152" tIns="36576" rIns="73152" bIns="36576">
            <a:normAutofit/>
          </a:bodyPr>
          <a:lstStyle/>
          <a:p>
            <a:pPr marL="0" indent="0" lvl="0" algn="ctr">
              <a:buNone/>
            </a:pPr>
            <a:r>
              <a:rPr lang="es-ES" sz="1500" b="1" i="0" dirty="0">
                <a:solidFill>
                  <a:srgbClr val="FFFFFF"/>
                </a:solidFill>
                <a:latin typeface="Calibri"/>
                <a:cs typeface="Calibri"/>
              </a:rPr>
              <a:t>Financiero</a:t>
            </a:r>
          </a:p>
        </p:txBody>
      </p:sp>
      <p:sp>
        <p:nvSpPr>
          <p:cNvPr id="20" name="tb"/>
          <p:cNvSpPr txBox="1"/>
          <p:nvPr/>
        </p:nvSpPr>
        <p:spPr>
          <a:xfrm>
            <a:off x="9125712" y="2514600"/>
            <a:ext cx="2350008" cy="160020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Ahorro operativo.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Mayor productividad logistica.</a:t>
            </a:r>
          </a:p>
          <a:p>
            <a:pPr marL="228600" indent="-228600" lvl="0" algn="l">
              <a:lnSpc>
                <a:spcPct val="100000"/>
              </a:lnSpc>
              <a:spcAft>
                <a:spcPts val="300"/>
              </a:spcAft>
              <a:buClr>
                <a:srgbClr val="E8711E"/>
              </a:buClr>
              <a:buFont typeface="Arial"/>
              <a:buChar char="•"/>
            </a:pPr>
            <a:r>
              <a:rPr lang="es-ES" sz="1200" b="0" i="0" dirty="0">
                <a:solidFill>
                  <a:srgbClr val="333333"/>
                </a:solidFill>
                <a:latin typeface="Calibri"/>
                <a:cs typeface="Calibri"/>
              </a:rPr>
              <a:t>Incremento potencial de ingresos.</a:t>
            </a:r>
          </a:p>
        </p:txBody>
      </p:sp>
      <p:sp>
        <p:nvSpPr>
          <p:cNvPr id="21" name="sp"/>
          <p:cNvSpPr/>
          <p:nvPr/>
        </p:nvSpPr>
        <p:spPr>
          <a:xfrm>
            <a:off x="566928" y="4526280"/>
            <a:ext cx="11064240" cy="15544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>
            <a:outerShdw blurRad="50000" dist="250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p"/>
          <p:cNvSpPr/>
          <p:nvPr/>
        </p:nvSpPr>
        <p:spPr>
          <a:xfrm>
            <a:off x="566928" y="4526280"/>
            <a:ext cx="128016" cy="1554480"/>
          </a:xfrm>
          <a:prstGeom prst="rect">
            <a:avLst/>
          </a:prstGeom>
          <a:solidFill>
            <a:srgbClr val="E8711E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tb"/>
          <p:cNvSpPr txBox="1"/>
          <p:nvPr/>
        </p:nvSpPr>
        <p:spPr>
          <a:xfrm>
            <a:off x="914400" y="4672584"/>
            <a:ext cx="10424160" cy="36576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buNone/>
            </a:pPr>
            <a:r>
              <a:rPr lang="es-ES" sz="1150" b="1" i="0" spc="180" dirty="0">
                <a:solidFill>
                  <a:srgbClr val="E8711E"/>
                </a:solidFill>
                <a:latin typeface="Calibri"/>
                <a:cs typeface="Calibri"/>
              </a:rPr>
              <a:t>MENSAJE FINAL PARA GERENCIA</a:t>
            </a:r>
          </a:p>
        </p:txBody>
      </p:sp>
      <p:sp>
        <p:nvSpPr>
          <p:cNvPr id="24" name="tb"/>
          <p:cNvSpPr txBox="1"/>
          <p:nvPr/>
        </p:nvSpPr>
        <p:spPr>
          <a:xfrm>
            <a:off x="914400" y="5029200"/>
            <a:ext cx="10469880" cy="960120"/>
          </a:xfrm>
          <a:prstGeom prst="rect">
            <a:avLst/>
          </a:prstGeom>
          <a:noFill/>
        </p:spPr>
        <p:txBody>
          <a:bodyPr wrap="square" anchor="t" lIns="73152" tIns="36576" rIns="73152" bIns="36576">
            <a:normAutofit/>
          </a:bodyPr>
          <a:lstStyle/>
          <a:p>
            <a:pPr marL="0" indent="0" lvl="0" algn="l">
              <a:lnSpc>
                <a:spcPct val="108000"/>
              </a:lnSpc>
              <a:buNone/>
            </a:pPr>
            <a:r>
              <a:rPr lang="es-ES" sz="1300" b="0" i="1" dirty="0">
                <a:solidFill>
                  <a:srgbClr val="E6EDF3"/>
                </a:solidFill>
                <a:latin typeface="Calibri"/>
                <a:cs typeface="Calibri"/>
              </a:rPr>
              <a:t>Estamos construyendo las capacidades para que CAV opere con una vision omnicanal real, donde los datos de clientes, la logistica inteligente y la disponibilidad de inventario trabajen integradas para mejorar la experiencia de compra, reducir costos operacionales y habilitar el crecimiento futuro del negocio.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V">
  <a:themeElements>
    <a:clrScheme name="CAV">
      <a:dk1>
        <a:sysClr val="windowText" lastClr="000000"/>
      </a:dk1>
      <a:lt1>
        <a:sysClr val="window" lastClr="FFFFFF"/>
      </a:lt1>
      <a:dk2>
        <a:srgbClr val="123A5E"/>
      </a:dk2>
      <a:lt2>
        <a:srgbClr val="F4F4F4"/>
      </a:lt2>
      <a:accent1>
        <a:srgbClr val="123A5E"/>
      </a:accent1>
      <a:accent2>
        <a:srgbClr val="E8711E"/>
      </a:accent2>
      <a:accent3>
        <a:srgbClr val="1C5A8C"/>
      </a:accent3>
      <a:accent4>
        <a:srgbClr val="1C5A8C"/>
      </a:accent4>
      <a:accent5>
        <a:srgbClr val="6B6B6B"/>
      </a:accent5>
      <a:accent6>
        <a:srgbClr val="333333"/>
      </a:accent6>
      <a:hlink>
        <a:srgbClr val="1F6FB2"/>
      </a:hlink>
      <a:folHlink>
        <a:srgbClr val="954F72"/>
      </a:folHlink>
    </a:clrScheme>
    <a:fontScheme name="CAV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AV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